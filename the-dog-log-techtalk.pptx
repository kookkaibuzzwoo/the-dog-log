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going to walk you through The Dog Log — a project that started as a simple pet medication tracker and grew into a surprisingly capable office tool.
What makes it interesting from a technical standpoint is that the entire app ships as a single HTML file with zero build process. No webpack, no npm install, no bundling — just open the file and it works.
In the next 30 minutes, I'll give you a live demo, show you how it works under the hood, and share some lessons learned along the way. Let's dive in!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next 30 minutes.
We'll start with the backstory — the "why" behind the project. Then jump straight into a live demo so everyone can see the app in action. After that, we'll pop the hood and look at the architecture and key technical decisions. Then I'll deep-dive into a few features I think are particularly cool. And we'll wrap up with lessons learned and your questions.
Sound good? Let's start with the problem.
[TIMING: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backstory. We have office dogs — and keeping track of their medications, vet bills, and who did what was becoming a mess. People would ask "Did anyone give Nexgard this month?" on Slack, and nobody could remember.
We needed something dead simple. No app to download, no accounts to create. Something you could share with the whole office and it just works. But we also needed it to sync across everyone's devices so we're all looking at the same data.
These constraints actually drove some interesting technical decisions that I'll talk about later.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 me switch over to the browser and show you the app.
[SWITCH TO BROWSER — open index.html]
DEMO FLOW (10 minutes):
1. MEDICATION TRACKING (3 min)
   - Show the main dashboard with dog cards
   - Add a new dog — show how the name prompt works
   - Give medication — click the button, show it records who and when
   - Point out the color-coded status: green (OK), yellow (soon), red (overdue)
   - Show the activity log at the bottom
2. BILL MANAGEMENT (2 min)
   - Switch to the Bills tab
   - Add a new bill
   - Show invoice scanning — upload a photo of a receipt
   - Walk through the OCR process (it takes a few seconds)
   - Show how scanned items become bills automatically
3. INVOICE SCANNING (2 min)
   - Upload a Thai invoice image
   - Show the preprocessing (image gets enhanced)
   - Watch Tesseract.js extract text
   - Show the parsed items with amounts
   - Add them as bills
4. CASH ADVANCE FORM (1 min)
   - Select some bills
   - Generate the Excel cash advance form
   - Open the downloaded file to show the formatting
5. SETTINGS (2 min)
   - Show Firebase sync status (connected indicator)
   - Show Slack webhook setup
   - Send a test notification
   - Show medication type customization
[TIMING: ~10 min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overview of all the major features. We just demoed most of these, but let me recap:
Medication tracking is the core — you track multiple dogs, multiple medication types, and it color-codes everything so you can instantly see what's overdue.
Bill management lets you track vet expenses and other costs, mark them as paid, and generate invoices.
The OCR scanning is probably the coolest technical feature — you take a photo of a receipt and it extracts all the line items automatically. It's especially tuned for Thai invoices.
Cash advance forms generate proper Excel spreadsheets for HR, complete with PromptPay payment details.
Slack notifications send daily reminders about what's due or overdue.
And Firebase sync keeps everything in sync across devices in real-time, with localStorage as an offline fallback.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this all fits together technically. This is where it gets interesting for the engineers in the room.
[TIMING: transition slide, ~15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tech stack. Everything fits in about 1,350 lines of code in a single HTML file.
On the frontend side, we use React 18 for the UI, Babel Standalone to compile JSX right in the browser, and Tailwind CSS for styling.
For services, Firebase Realtime Database handles cloud sync, Tesseract.js does our OCR (optical character recognition) for invoice scanning, and SheetJS generates Excel files for cash advance forms.
The key thing to notice: everything is loaded from CDN. There's no package.json, no node_modules, no webpack config. You literally just open the HTML file in a browser and it works.
This is a deliberate architecture choice. The trade-off is slightly slower initial load and no tree-shaking, but the benefit is zero setup friction. Anyone can use it.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contrast the traditional approach with what we did.
A typical React app: you start with npm install, which pulls down hundreds of packages. Then you configure your bundler, set up env vars, run a build, deploy to a server, maybe set up CI/CD.
The Dog Log? You open the HTML file. Done. That's the entire deployment process.
How does this work? The CDN handles loading React, Babel, and Tailwind. Babel compiles our JSX right in the browser at runtime. localStorage handles data persistence locally, and Firebase is optional — you add it if you want cloud sync.
The trade-off: there's a slight delay on first load as Babel compiles the JSX. But for a tool like this, that's totally acceptable. We're talking about a few hundred milliseconds, not seconds.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architecture is something I'm proud of. It follows an offline-first pattern.
localStorage is both the primary store and the fallback. When the app loads, it checks localStorage first, then tries to connect to Firebase. If Firebase is available, it syncs both ways. If not, you still have all your data.
A couple of smart things we do: First, debounced saves — we wait 500ms after the last change before writing to Firebase. This prevents hammering Firebase with writes when someone's rapidly clicking through medications. It also saves us money on Firebase costs.
Second, every time we save to Firebase, we also save to localStorage as a backup. So even if Firebase has issues later, you won't lose data.
This pattern — offline-first with optional cloud sync — is really powerful for tools like this. The app never feels broken or slow, regardless of network conditions.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deep-dive into the OCR invoice scanning, which is probably the most technically interesting feature.
The pipeline has 6 steps:
First, the user uploads an image — could be a phone photo of a receipt.
Second, we preprocess that image to improve OCR accuracy. We scale it up 2x, convert to grayscale, boost the contrast by 1.5x, and then binarize it — converting everything to pure black and white at a threshold of 180. This dramatically improves Tesseract's accuracy on receipt photos.
Third, Tesseract.js runs the actual OCR, extracting raw text from the image.
Fourth — and this is the clever part — we do smart parsing. We look for Thai keywords that signal the start and end of a product table. Keywords like "รายการสั่งซื้อ" (order items) or "มูลค่า" (amount).
Fifth, within that table region, we use regex and heuristics to extract individual items and their prices. We filter out delivery fees, VAT, and discounts. The price must have a .00 decimal ending, which is standard for Thai invoices.
And finally, the parsed items become bills in the app, linked to the original invoice image.
If the smart parsing fails — maybe the receipt has an unusual format — we fall back to a simpler regex approach that just looks for price patterns.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Slack integration keeps the team informed without having to check the app.
You set up a Slack incoming webhook URL — takes about 2 minutes in the Slack API console. The app stores it in localStorage.
When triggered, it checks all dogs and all medications. If anything is overdue or coming up soon, it sends a formatted message to your Slack channel.
On the right you can see what a notification looks like. It uses Slack Block Kit for structured formatting — headers, sections with bold text, and color-coded urgency. Red for overdue, yellow for upcoming.
The smart thing is it only sends alerts when there's actually something to report. No noise, no "everything is fine" messages cluttering your channel.
There's also a test button in the settings so you can verify the webhook works before relying on it.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interesting thing about this project: there are 8 different HTML variants, each optimized for a different use case.
The main index.html is the full-featured version with everything — Firebase, Slack, OCR, cash advance forms.
But we also have stripped-down versions: a standalone version that just uses localStorage, an Excel-focused version that imports/exports spreadsheet data, a Firebase-only version for simple cloud sync, a team version for multi-user collaboration.
There's even a Google Sheets variant that syncs data via CSV, and a File System API version that saves directly to a local file using the browser's File Picker API.
The idea is: pick the variant that fits your needs. Don't need OCR? Use the simple version. Need team collaboration? Use the team version. This also means each file stays relatively small and focused.
About 7,900 total lines of code across all variants.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share some honest lessons from building this.
[TIMING: transition, ~15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takeaways:
First — the no-build approach is genuinely great for internal tools. The zero-friction deployment is a huge win. New team member? Just send them the HTML file. No environment to set up, no dependencies to install.
Second — be careful with credentials in client-side code. Our Firebase API key and Slack webhook URL are visible in the source. This is fine IF you set up proper Firebase security rules. But it's something you need to think about upfront, not after.
Third — designing mobile-first from the start was the right call. We used 44px minimum touch targets (which is the accessibility standard) and responsive layouts. People started using it on their phones immediately, which we didn't even plan for originally.
Fourth — OCR is amazing but messy. Tesseract.js is incredibly capable, but raw accuracy on phone photos is disappointing. The image preprocessing pipeline — scaling up, grayscale, contrast boost, binarization — is what makes it actually work. Without that pipeline, you're looking at maybe 60% accuracy. With it, we get 85-90%.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it! Thank you for your time.
I'm happy to take questions. Some things people usually ask about:
- "Why not use a proper backend?" — For this use case, Firebase is enough. A backend would add deployment complexity for no real benefit.
- "What about security?" — Firebase security rules are your friend. The API key being public is fine as long as your database rules are locked down.
- "Could you use this pattern for bigger apps?" — Yes, but with limits. Once you're past ~2,000 lines, you'll start wanting proper imports and build-time compilation. This works great for tools up to moderate complexity.
- "What's next?" — We're considering adding push notifications via a service worker, and maybe a PWA manifest so it works like a native app on mobile.
Thanks again! Feel free to grab the code and try it out.
[TIMING: ~4 min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28090">
              <a:alpha val="15000"/>
            </a:srgbClr>
          </a:solidFill>
          <a:ln/>
        </p:spPr>
      </p:sp>
      <p:sp>
        <p:nvSpPr>
          <p:cNvPr id="3" name="Shape 1"/>
          <p:cNvSpPr/>
          <p:nvPr/>
        </p:nvSpPr>
        <p:spPr>
          <a:xfrm>
            <a:off x="6858000" y="2743200"/>
            <a:ext cx="3657600" cy="3657600"/>
          </a:xfrm>
          <a:prstGeom prst="ellipse">
            <a:avLst/>
          </a:prstGeom>
          <a:solidFill>
            <a:srgbClr val="00A896">
              <a:alpha val="15000"/>
            </a:srgbClr>
          </a:solidFill>
          <a:ln/>
        </p:spPr>
      </p:sp>
      <p:pic>
        <p:nvPicPr>
          <p:cNvPr id="4" name="Image 0" descr="preencoded.png">    </p:cNvPr>
          <p:cNvPicPr>
            <a:picLocks noChangeAspect="1"/>
          </p:cNvPicPr>
          <p:nvPr/>
        </p:nvPicPr>
        <p:blipFill>
          <a:blip r:embed="rId1"/>
          <a:stretch>
            <a:fillRect/>
          </a:stretch>
        </p:blipFill>
        <p:spPr>
          <a:xfrm>
            <a:off x="3886200" y="457200"/>
            <a:ext cx="1371600" cy="1371600"/>
          </a:xfrm>
          <a:prstGeom prst="rect">
            <a:avLst/>
          </a:prstGeom>
        </p:spPr>
      </p:pic>
      <p:sp>
        <p:nvSpPr>
          <p:cNvPr id="5" name="Text 2"/>
          <p:cNvSpPr/>
          <p:nvPr/>
        </p:nvSpPr>
        <p:spPr>
          <a:xfrm>
            <a:off x="457200" y="1920240"/>
            <a:ext cx="822960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Trebuchet MS" pitchFamily="34" charset="0"/>
                <a:ea typeface="Trebuchet MS" pitchFamily="34" charset="-122"/>
                <a:cs typeface="Trebuchet MS" pitchFamily="34" charset="-120"/>
              </a:rPr>
              <a:t>The Dog Log</a:t>
            </a:r>
            <a:endParaRPr lang="en-US" sz="4800" dirty="0"/>
          </a:p>
        </p:txBody>
      </p:sp>
      <p:sp>
        <p:nvSpPr>
          <p:cNvPr id="6" name="Text 3"/>
          <p:cNvSpPr/>
          <p:nvPr/>
        </p:nvSpPr>
        <p:spPr>
          <a:xfrm>
            <a:off x="914400" y="2926080"/>
            <a:ext cx="7315200" cy="548640"/>
          </a:xfrm>
          <a:prstGeom prst="rect">
            <a:avLst/>
          </a:prstGeom>
          <a:noFill/>
          <a:ln/>
        </p:spPr>
        <p:txBody>
          <a:bodyPr wrap="square" lIns="0" tIns="0" rIns="0" bIns="0" rtlCol="0" anchor="ctr"/>
          <a:lstStyle/>
          <a:p>
            <a:pPr algn="ctr" indent="0" marL="0">
              <a:buNone/>
            </a:pPr>
            <a:r>
              <a:rPr lang="en-US" sz="1800" dirty="0">
                <a:solidFill>
                  <a:srgbClr val="02C39A"/>
                </a:solidFill>
                <a:latin typeface="Calibri" pitchFamily="34" charset="0"/>
                <a:ea typeface="Calibri" pitchFamily="34" charset="-122"/>
                <a:cs typeface="Calibri" pitchFamily="34" charset="-120"/>
              </a:rPr>
              <a:t>From Pet Tracker to Office Tool — No Build Process Required</a:t>
            </a:r>
            <a:endParaRPr lang="en-US" sz="1800" dirty="0"/>
          </a:p>
        </p:txBody>
      </p:sp>
      <p:sp>
        <p:nvSpPr>
          <p:cNvPr id="7" name="Text 4"/>
          <p:cNvSpPr/>
          <p:nvPr/>
        </p:nvSpPr>
        <p:spPr>
          <a:xfrm>
            <a:off x="914400" y="4023360"/>
            <a:ext cx="7315200" cy="457200"/>
          </a:xfrm>
          <a:prstGeom prst="rect">
            <a:avLst/>
          </a:prstGeom>
          <a:noFill/>
          <a:ln/>
        </p:spPr>
        <p:txBody>
          <a:bodyPr wrap="square" lIns="0" tIns="0" rIns="0" bIns="0" rtlCol="0" anchor="ctr"/>
          <a:lstStyle/>
          <a:p>
            <a:pPr algn="ctr" indent="0" marL="0">
              <a:buNone/>
            </a:pPr>
            <a:r>
              <a:rPr lang="en-US" sz="1400" dirty="0">
                <a:solidFill>
                  <a:srgbClr val="8896A5"/>
                </a:solidFill>
                <a:latin typeface="Calibri" pitchFamily="34" charset="0"/>
                <a:ea typeface="Calibri" pitchFamily="34" charset="-122"/>
                <a:cs typeface="Calibri" pitchFamily="34" charset="-120"/>
              </a:rPr>
              <a:t>kookkai  •  Tech Talk  •  Feb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What We'll Cover</a:t>
            </a:r>
            <a:endParaRPr lang="en-US" sz="3600" dirty="0"/>
          </a:p>
        </p:txBody>
      </p:sp>
      <p:sp>
        <p:nvSpPr>
          <p:cNvPr id="3" name="Shape 1"/>
          <p:cNvSpPr/>
          <p:nvPr/>
        </p:nvSpPr>
        <p:spPr>
          <a:xfrm>
            <a:off x="640080" y="1371600"/>
            <a:ext cx="7863840" cy="59436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777240" y="1435608"/>
            <a:ext cx="457200" cy="457200"/>
          </a:xfrm>
          <a:prstGeom prst="rect">
            <a:avLst/>
          </a:prstGeom>
        </p:spPr>
      </p:pic>
      <p:sp>
        <p:nvSpPr>
          <p:cNvPr id="5" name="Text 2"/>
          <p:cNvSpPr/>
          <p:nvPr/>
        </p:nvSpPr>
        <p:spPr>
          <a:xfrm>
            <a:off x="1371600" y="1371600"/>
            <a:ext cx="3657600" cy="59436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The Problem</a:t>
            </a:r>
            <a:endParaRPr lang="en-US" sz="1600" dirty="0"/>
          </a:p>
        </p:txBody>
      </p:sp>
      <p:sp>
        <p:nvSpPr>
          <p:cNvPr id="6" name="Text 3"/>
          <p:cNvSpPr/>
          <p:nvPr/>
        </p:nvSpPr>
        <p:spPr>
          <a:xfrm>
            <a:off x="4572000" y="1371600"/>
            <a:ext cx="2743200" cy="5943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Why we built The Dog Log</a:t>
            </a:r>
            <a:endParaRPr lang="en-US" sz="1300" dirty="0"/>
          </a:p>
        </p:txBody>
      </p:sp>
      <p:sp>
        <p:nvSpPr>
          <p:cNvPr id="7" name="Shape 4"/>
          <p:cNvSpPr/>
          <p:nvPr/>
        </p:nvSpPr>
        <p:spPr>
          <a:xfrm>
            <a:off x="7589520" y="1508760"/>
            <a:ext cx="731520" cy="320040"/>
          </a:xfrm>
          <a:prstGeom prst="rect">
            <a:avLst>
              <a:gd name="adj" fmla="val 14286"/>
            </a:avLst>
          </a:prstGeom>
          <a:solidFill>
            <a:srgbClr val="028090"/>
          </a:solidFill>
          <a:ln/>
        </p:spPr>
      </p:sp>
      <p:sp>
        <p:nvSpPr>
          <p:cNvPr id="8" name="Text 5"/>
          <p:cNvSpPr/>
          <p:nvPr/>
        </p:nvSpPr>
        <p:spPr>
          <a:xfrm>
            <a:off x="7589520" y="150876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min</a:t>
            </a:r>
            <a:endParaRPr lang="en-US" sz="1000" dirty="0"/>
          </a:p>
        </p:txBody>
      </p:sp>
      <p:sp>
        <p:nvSpPr>
          <p:cNvPr id="9" name="Shape 6"/>
          <p:cNvSpPr/>
          <p:nvPr/>
        </p:nvSpPr>
        <p:spPr>
          <a:xfrm>
            <a:off x="640080" y="2103120"/>
            <a:ext cx="7863840" cy="59436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777240" y="2167128"/>
            <a:ext cx="457200" cy="457200"/>
          </a:xfrm>
          <a:prstGeom prst="rect">
            <a:avLst/>
          </a:prstGeom>
        </p:spPr>
      </p:pic>
      <p:sp>
        <p:nvSpPr>
          <p:cNvPr id="11" name="Text 7"/>
          <p:cNvSpPr/>
          <p:nvPr/>
        </p:nvSpPr>
        <p:spPr>
          <a:xfrm>
            <a:off x="1371600" y="2103120"/>
            <a:ext cx="3657600" cy="59436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Live Demo</a:t>
            </a:r>
            <a:endParaRPr lang="en-US" sz="1600" dirty="0"/>
          </a:p>
        </p:txBody>
      </p:sp>
      <p:sp>
        <p:nvSpPr>
          <p:cNvPr id="12" name="Text 8"/>
          <p:cNvSpPr/>
          <p:nvPr/>
        </p:nvSpPr>
        <p:spPr>
          <a:xfrm>
            <a:off x="4572000" y="2103120"/>
            <a:ext cx="2743200" cy="5943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See it in action — all features</a:t>
            </a:r>
            <a:endParaRPr lang="en-US" sz="1300" dirty="0"/>
          </a:p>
        </p:txBody>
      </p:sp>
      <p:sp>
        <p:nvSpPr>
          <p:cNvPr id="13" name="Shape 9"/>
          <p:cNvSpPr/>
          <p:nvPr/>
        </p:nvSpPr>
        <p:spPr>
          <a:xfrm>
            <a:off x="7589520" y="2240280"/>
            <a:ext cx="731520" cy="320040"/>
          </a:xfrm>
          <a:prstGeom prst="rect">
            <a:avLst>
              <a:gd name="adj" fmla="val 14286"/>
            </a:avLst>
          </a:prstGeom>
          <a:solidFill>
            <a:srgbClr val="028090"/>
          </a:solidFill>
          <a:ln/>
        </p:spPr>
      </p:sp>
      <p:sp>
        <p:nvSpPr>
          <p:cNvPr id="14" name="Text 10"/>
          <p:cNvSpPr/>
          <p:nvPr/>
        </p:nvSpPr>
        <p:spPr>
          <a:xfrm>
            <a:off x="7589520" y="224028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 min</a:t>
            </a:r>
            <a:endParaRPr lang="en-US" sz="1000" dirty="0"/>
          </a:p>
        </p:txBody>
      </p:sp>
      <p:sp>
        <p:nvSpPr>
          <p:cNvPr id="15" name="Shape 11"/>
          <p:cNvSpPr/>
          <p:nvPr/>
        </p:nvSpPr>
        <p:spPr>
          <a:xfrm>
            <a:off x="640080" y="2834640"/>
            <a:ext cx="7863840" cy="59436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6" name="Image 2" descr="preencoded.png">    </p:cNvPr>
          <p:cNvPicPr>
            <a:picLocks noChangeAspect="1"/>
          </p:cNvPicPr>
          <p:nvPr/>
        </p:nvPicPr>
        <p:blipFill>
          <a:blip r:embed="rId3"/>
          <a:stretch>
            <a:fillRect/>
          </a:stretch>
        </p:blipFill>
        <p:spPr>
          <a:xfrm>
            <a:off x="777240" y="2898648"/>
            <a:ext cx="457200" cy="457200"/>
          </a:xfrm>
          <a:prstGeom prst="rect">
            <a:avLst/>
          </a:prstGeom>
        </p:spPr>
      </p:pic>
      <p:sp>
        <p:nvSpPr>
          <p:cNvPr id="17" name="Text 12"/>
          <p:cNvSpPr/>
          <p:nvPr/>
        </p:nvSpPr>
        <p:spPr>
          <a:xfrm>
            <a:off x="1371600" y="2834640"/>
            <a:ext cx="3657600" cy="59436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Under the Hood</a:t>
            </a:r>
            <a:endParaRPr lang="en-US" sz="1600" dirty="0"/>
          </a:p>
        </p:txBody>
      </p:sp>
      <p:sp>
        <p:nvSpPr>
          <p:cNvPr id="18" name="Text 13"/>
          <p:cNvSpPr/>
          <p:nvPr/>
        </p:nvSpPr>
        <p:spPr>
          <a:xfrm>
            <a:off x="4572000" y="2834640"/>
            <a:ext cx="2743200" cy="5943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Architecture &amp; tech decisions</a:t>
            </a:r>
            <a:endParaRPr lang="en-US" sz="1300" dirty="0"/>
          </a:p>
        </p:txBody>
      </p:sp>
      <p:sp>
        <p:nvSpPr>
          <p:cNvPr id="19" name="Shape 14"/>
          <p:cNvSpPr/>
          <p:nvPr/>
        </p:nvSpPr>
        <p:spPr>
          <a:xfrm>
            <a:off x="7589520" y="2971800"/>
            <a:ext cx="731520" cy="320040"/>
          </a:xfrm>
          <a:prstGeom prst="rect">
            <a:avLst>
              <a:gd name="adj" fmla="val 14286"/>
            </a:avLst>
          </a:prstGeom>
          <a:solidFill>
            <a:srgbClr val="028090"/>
          </a:solidFill>
          <a:ln/>
        </p:spPr>
      </p:sp>
      <p:sp>
        <p:nvSpPr>
          <p:cNvPr id="20" name="Text 15"/>
          <p:cNvSpPr/>
          <p:nvPr/>
        </p:nvSpPr>
        <p:spPr>
          <a:xfrm>
            <a:off x="7589520" y="297180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min</a:t>
            </a:r>
            <a:endParaRPr lang="en-US" sz="1000" dirty="0"/>
          </a:p>
        </p:txBody>
      </p:sp>
      <p:sp>
        <p:nvSpPr>
          <p:cNvPr id="21" name="Shape 16"/>
          <p:cNvSpPr/>
          <p:nvPr/>
        </p:nvSpPr>
        <p:spPr>
          <a:xfrm>
            <a:off x="640080" y="3566160"/>
            <a:ext cx="7863840" cy="59436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22" name="Image 3" descr="preencoded.png">    </p:cNvPr>
          <p:cNvPicPr>
            <a:picLocks noChangeAspect="1"/>
          </p:cNvPicPr>
          <p:nvPr/>
        </p:nvPicPr>
        <p:blipFill>
          <a:blip r:embed="rId4"/>
          <a:stretch>
            <a:fillRect/>
          </a:stretch>
        </p:blipFill>
        <p:spPr>
          <a:xfrm>
            <a:off x="777240" y="3630168"/>
            <a:ext cx="457200" cy="457200"/>
          </a:xfrm>
          <a:prstGeom prst="rect">
            <a:avLst/>
          </a:prstGeom>
        </p:spPr>
      </p:pic>
      <p:sp>
        <p:nvSpPr>
          <p:cNvPr id="23" name="Text 17"/>
          <p:cNvSpPr/>
          <p:nvPr/>
        </p:nvSpPr>
        <p:spPr>
          <a:xfrm>
            <a:off x="1371600" y="3566160"/>
            <a:ext cx="3657600" cy="59436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Cool Features Deep Dive</a:t>
            </a:r>
            <a:endParaRPr lang="en-US" sz="1600" dirty="0"/>
          </a:p>
        </p:txBody>
      </p:sp>
      <p:sp>
        <p:nvSpPr>
          <p:cNvPr id="24" name="Text 18"/>
          <p:cNvSpPr/>
          <p:nvPr/>
        </p:nvSpPr>
        <p:spPr>
          <a:xfrm>
            <a:off x="4572000" y="3566160"/>
            <a:ext cx="2743200" cy="5943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OCR, Slack, Firebase sync</a:t>
            </a:r>
            <a:endParaRPr lang="en-US" sz="1300" dirty="0"/>
          </a:p>
        </p:txBody>
      </p:sp>
      <p:sp>
        <p:nvSpPr>
          <p:cNvPr id="25" name="Shape 19"/>
          <p:cNvSpPr/>
          <p:nvPr/>
        </p:nvSpPr>
        <p:spPr>
          <a:xfrm>
            <a:off x="7589520" y="3703320"/>
            <a:ext cx="731520" cy="320040"/>
          </a:xfrm>
          <a:prstGeom prst="rect">
            <a:avLst>
              <a:gd name="adj" fmla="val 14286"/>
            </a:avLst>
          </a:prstGeom>
          <a:solidFill>
            <a:srgbClr val="028090"/>
          </a:solidFill>
          <a:ln/>
        </p:spPr>
      </p:sp>
      <p:sp>
        <p:nvSpPr>
          <p:cNvPr id="26" name="Text 20"/>
          <p:cNvSpPr/>
          <p:nvPr/>
        </p:nvSpPr>
        <p:spPr>
          <a:xfrm>
            <a:off x="7589520" y="370332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min</a:t>
            </a:r>
            <a:endParaRPr lang="en-US" sz="1000" dirty="0"/>
          </a:p>
        </p:txBody>
      </p:sp>
      <p:sp>
        <p:nvSpPr>
          <p:cNvPr id="27" name="Shape 21"/>
          <p:cNvSpPr/>
          <p:nvPr/>
        </p:nvSpPr>
        <p:spPr>
          <a:xfrm>
            <a:off x="640080" y="4297680"/>
            <a:ext cx="7863840" cy="59436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28" name="Image 4" descr="preencoded.png">    </p:cNvPr>
          <p:cNvPicPr>
            <a:picLocks noChangeAspect="1"/>
          </p:cNvPicPr>
          <p:nvPr/>
        </p:nvPicPr>
        <p:blipFill>
          <a:blip r:embed="rId5"/>
          <a:stretch>
            <a:fillRect/>
          </a:stretch>
        </p:blipFill>
        <p:spPr>
          <a:xfrm>
            <a:off x="777240" y="4361688"/>
            <a:ext cx="457200" cy="457200"/>
          </a:xfrm>
          <a:prstGeom prst="rect">
            <a:avLst/>
          </a:prstGeom>
        </p:spPr>
      </p:pic>
      <p:sp>
        <p:nvSpPr>
          <p:cNvPr id="29" name="Text 22"/>
          <p:cNvSpPr/>
          <p:nvPr/>
        </p:nvSpPr>
        <p:spPr>
          <a:xfrm>
            <a:off x="1371600" y="4297680"/>
            <a:ext cx="3657600" cy="59436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Lessons &amp; Q&amp;A</a:t>
            </a:r>
            <a:endParaRPr lang="en-US" sz="1600" dirty="0"/>
          </a:p>
        </p:txBody>
      </p:sp>
      <p:sp>
        <p:nvSpPr>
          <p:cNvPr id="30" name="Text 23"/>
          <p:cNvSpPr/>
          <p:nvPr/>
        </p:nvSpPr>
        <p:spPr>
          <a:xfrm>
            <a:off x="4572000" y="4297680"/>
            <a:ext cx="2743200" cy="5943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Takeaways and your questions</a:t>
            </a:r>
            <a:endParaRPr lang="en-US" sz="1300" dirty="0"/>
          </a:p>
        </p:txBody>
      </p:sp>
      <p:sp>
        <p:nvSpPr>
          <p:cNvPr id="31" name="Shape 24"/>
          <p:cNvSpPr/>
          <p:nvPr/>
        </p:nvSpPr>
        <p:spPr>
          <a:xfrm>
            <a:off x="7589520" y="4434840"/>
            <a:ext cx="731520" cy="320040"/>
          </a:xfrm>
          <a:prstGeom prst="rect">
            <a:avLst>
              <a:gd name="adj" fmla="val 14286"/>
            </a:avLst>
          </a:prstGeom>
          <a:solidFill>
            <a:srgbClr val="028090"/>
          </a:solidFill>
          <a:ln/>
        </p:spPr>
      </p:sp>
      <p:sp>
        <p:nvSpPr>
          <p:cNvPr id="32" name="Text 25"/>
          <p:cNvSpPr/>
          <p:nvPr/>
        </p:nvSpPr>
        <p:spPr>
          <a:xfrm>
            <a:off x="7589520" y="443484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min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45720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The Problem</a:t>
            </a:r>
            <a:endParaRPr lang="en-US" sz="3600" dirty="0"/>
          </a:p>
        </p:txBody>
      </p:sp>
      <p:sp>
        <p:nvSpPr>
          <p:cNvPr id="3" name="Shape 1"/>
          <p:cNvSpPr/>
          <p:nvPr/>
        </p:nvSpPr>
        <p:spPr>
          <a:xfrm>
            <a:off x="640080" y="1371600"/>
            <a:ext cx="3840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4" name="Shape 2"/>
          <p:cNvSpPr/>
          <p:nvPr/>
        </p:nvSpPr>
        <p:spPr>
          <a:xfrm>
            <a:off x="640080" y="1371600"/>
            <a:ext cx="54864" cy="3200400"/>
          </a:xfrm>
          <a:prstGeom prst="rect">
            <a:avLst/>
          </a:prstGeom>
          <a:solidFill>
            <a:srgbClr val="028090"/>
          </a:solidFill>
          <a:ln/>
        </p:spPr>
      </p:sp>
      <p:sp>
        <p:nvSpPr>
          <p:cNvPr id="5" name="Text 3"/>
          <p:cNvSpPr/>
          <p:nvPr/>
        </p:nvSpPr>
        <p:spPr>
          <a:xfrm>
            <a:off x="914400" y="1463040"/>
            <a:ext cx="3383280" cy="457200"/>
          </a:xfrm>
          <a:prstGeom prst="rect">
            <a:avLst/>
          </a:prstGeom>
          <a:noFill/>
          <a:ln/>
        </p:spPr>
        <p:txBody>
          <a:bodyPr wrap="square" lIns="0" tIns="0" rIns="0" bIns="0" rtlCol="0" anchor="ctr"/>
          <a:lstStyle/>
          <a:p>
            <a:pPr indent="0" marL="0">
              <a:buNone/>
            </a:pPr>
            <a:r>
              <a:rPr lang="en-US" sz="1800" b="1" dirty="0">
                <a:solidFill>
                  <a:srgbClr val="028090"/>
                </a:solidFill>
                <a:latin typeface="Trebuchet MS" pitchFamily="34" charset="0"/>
                <a:ea typeface="Trebuchet MS" pitchFamily="34" charset="-122"/>
                <a:cs typeface="Trebuchet MS" pitchFamily="34" charset="-120"/>
              </a:rPr>
              <a:t>Office Dogs Need Care Too</a:t>
            </a:r>
            <a:endParaRPr lang="en-US" sz="1800" dirty="0"/>
          </a:p>
        </p:txBody>
      </p:sp>
      <p:sp>
        <p:nvSpPr>
          <p:cNvPr id="6" name="Text 4"/>
          <p:cNvSpPr/>
          <p:nvPr/>
        </p:nvSpPr>
        <p:spPr>
          <a:xfrm>
            <a:off x="914400" y="2011680"/>
            <a:ext cx="3383280" cy="228600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"Who gave Nexgard last month?"</a:t>
            </a:r>
            <a:endParaRPr lang="en-US" sz="1400" dirty="0"/>
          </a:p>
          <a:p>
            <a:pPr indent="0" marL="0">
              <a:buNone/>
            </a:pPr>
            <a:endParaRPr lang="en-US" sz="1400" dirty="0"/>
          </a:p>
          <a:p>
            <a:pPr indent="0" marL="0">
              <a:buNone/>
            </a:pPr>
            <a:r>
              <a:rPr lang="en-US" sz="1400" i="1" dirty="0">
                <a:solidFill>
                  <a:srgbClr val="4A5568"/>
                </a:solidFill>
                <a:latin typeface="Calibri" pitchFamily="34" charset="0"/>
                <a:ea typeface="Calibri" pitchFamily="34" charset="-122"/>
                <a:cs typeface="Calibri" pitchFamily="34" charset="-120"/>
              </a:rPr>
              <a:t>"Is the vet bill paid yet?"</a:t>
            </a:r>
            <a:endParaRPr lang="en-US" sz="1400" dirty="0"/>
          </a:p>
          <a:p>
            <a:pPr indent="0" marL="0">
              <a:buNone/>
            </a:pPr>
            <a:endParaRPr lang="en-US" sz="1400" dirty="0"/>
          </a:p>
          <a:p>
            <a:pPr indent="0" marL="0">
              <a:buNone/>
            </a:pPr>
            <a:r>
              <a:rPr lang="en-US" sz="1400" i="1" dirty="0">
                <a:solidFill>
                  <a:srgbClr val="4A5568"/>
                </a:solidFill>
                <a:latin typeface="Calibri" pitchFamily="34" charset="0"/>
                <a:ea typeface="Calibri" pitchFamily="34" charset="-122"/>
                <a:cs typeface="Calibri" pitchFamily="34" charset="-120"/>
              </a:rPr>
              <a:t>"Where is the invoice from last week?"</a:t>
            </a:r>
            <a:endParaRPr lang="en-US" sz="1400" dirty="0"/>
          </a:p>
          <a:p>
            <a:pPr indent="0" marL="0">
              <a:buNone/>
            </a:pPr>
            <a:endParaRPr lang="en-US" sz="1400" dirty="0"/>
          </a:p>
          <a:p>
            <a:pPr indent="0" marL="0">
              <a:buNone/>
            </a:pPr>
            <a:r>
              <a:rPr lang="en-US" sz="1400" b="1" dirty="0">
                <a:solidFill>
                  <a:srgbClr val="1A2332"/>
                </a:solidFill>
                <a:latin typeface="Calibri" pitchFamily="34" charset="0"/>
                <a:ea typeface="Calibri" pitchFamily="34" charset="-122"/>
                <a:cs typeface="Calibri" pitchFamily="34" charset="-120"/>
              </a:rPr>
              <a:t>Multiple people, multiple dogs,</a:t>
            </a:r>
            <a:endParaRPr lang="en-US" sz="1400" dirty="0"/>
          </a:p>
          <a:p>
            <a:pPr indent="0" marL="0">
              <a:buNone/>
            </a:pPr>
            <a:r>
              <a:rPr lang="en-US" sz="1400" b="1" dirty="0">
                <a:solidFill>
                  <a:srgbClr val="1A2332"/>
                </a:solidFill>
                <a:latin typeface="Calibri" pitchFamily="34" charset="0"/>
                <a:ea typeface="Calibri" pitchFamily="34" charset="-122"/>
                <a:cs typeface="Calibri" pitchFamily="34" charset="-120"/>
              </a:rPr>
              <a:t>no single source of truth.</a:t>
            </a:r>
            <a:endParaRPr lang="en-US" sz="1400" dirty="0"/>
          </a:p>
        </p:txBody>
      </p:sp>
      <p:sp>
        <p:nvSpPr>
          <p:cNvPr id="7" name="Shape 5"/>
          <p:cNvSpPr/>
          <p:nvPr/>
        </p:nvSpPr>
        <p:spPr>
          <a:xfrm>
            <a:off x="4754880" y="1371600"/>
            <a:ext cx="3840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371600"/>
            <a:ext cx="54864" cy="3200400"/>
          </a:xfrm>
          <a:prstGeom prst="rect">
            <a:avLst/>
          </a:prstGeom>
          <a:solidFill>
            <a:srgbClr val="00A896"/>
          </a:solidFill>
          <a:ln/>
        </p:spPr>
      </p:sp>
      <p:sp>
        <p:nvSpPr>
          <p:cNvPr id="9" name="Text 7"/>
          <p:cNvSpPr/>
          <p:nvPr/>
        </p:nvSpPr>
        <p:spPr>
          <a:xfrm>
            <a:off x="5029200" y="1463040"/>
            <a:ext cx="3383280" cy="457200"/>
          </a:xfrm>
          <a:prstGeom prst="rect">
            <a:avLst/>
          </a:prstGeom>
          <a:noFill/>
          <a:ln/>
        </p:spPr>
        <p:txBody>
          <a:bodyPr wrap="square" lIns="0" tIns="0" rIns="0" bIns="0" rtlCol="0" anchor="ctr"/>
          <a:lstStyle/>
          <a:p>
            <a:pPr indent="0" marL="0">
              <a:buNone/>
            </a:pPr>
            <a:r>
              <a:rPr lang="en-US" sz="1800" b="1" dirty="0">
                <a:solidFill>
                  <a:srgbClr val="00A896"/>
                </a:solidFill>
                <a:latin typeface="Trebuchet MS" pitchFamily="34" charset="0"/>
                <a:ea typeface="Trebuchet MS" pitchFamily="34" charset="-122"/>
                <a:cs typeface="Trebuchet MS" pitchFamily="34" charset="-120"/>
              </a:rPr>
              <a:t>The Constraints</a:t>
            </a:r>
            <a:endParaRPr lang="en-US" sz="1800" dirty="0"/>
          </a:p>
        </p:txBody>
      </p:sp>
      <p:sp>
        <p:nvSpPr>
          <p:cNvPr id="10" name="Text 8"/>
          <p:cNvSpPr/>
          <p:nvPr/>
        </p:nvSpPr>
        <p:spPr>
          <a:xfrm>
            <a:off x="5029200" y="2011680"/>
            <a:ext cx="3383280" cy="2286000"/>
          </a:xfrm>
          <a:prstGeom prst="rect">
            <a:avLst/>
          </a:prstGeom>
          <a:noFill/>
          <a:ln/>
        </p:spPr>
        <p:txBody>
          <a:bodyPr wrap="square" lIns="0" tIns="0" rIns="0" bIns="0" rtlCol="0" anchor="ctr"/>
          <a:lstStyle/>
          <a:p>
            <a:pPr marL="342900" indent="-342900">
              <a:buSzPct val="100000"/>
              <a:buChar char="•"/>
            </a:pPr>
            <a:r>
              <a:rPr lang="en-US" sz="1300" b="1" dirty="0">
                <a:solidFill>
                  <a:srgbClr val="1A2332"/>
                </a:solidFill>
                <a:latin typeface="Calibri" pitchFamily="34" charset="0"/>
                <a:ea typeface="Calibri" pitchFamily="34" charset="-122"/>
                <a:cs typeface="Calibri" pitchFamily="34" charset="-120"/>
              </a:rPr>
              <a:t>Must work instantly</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  No install, no setup, no accounts</a:t>
            </a:r>
            <a:endParaRPr lang="en-US" sz="1300" dirty="0"/>
          </a:p>
          <a:p>
            <a:pPr indent="0" marL="0">
              <a:buNone/>
            </a:pPr>
            <a:endParaRPr lang="en-US" sz="1300" dirty="0"/>
          </a:p>
          <a:p>
            <a:pPr marL="342900" indent="-342900">
              <a:buSzPct val="100000"/>
              <a:buChar char="•"/>
            </a:pPr>
            <a:r>
              <a:rPr lang="en-US" sz="1300" b="1" dirty="0">
                <a:solidFill>
                  <a:srgbClr val="1A2332"/>
                </a:solidFill>
                <a:latin typeface="Calibri" pitchFamily="34" charset="0"/>
                <a:ea typeface="Calibri" pitchFamily="34" charset="-122"/>
                <a:cs typeface="Calibri" pitchFamily="34" charset="-120"/>
              </a:rPr>
              <a:t>Must be shared easily</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  Just send the HTML file</a:t>
            </a:r>
            <a:endParaRPr lang="en-US" sz="1300" dirty="0"/>
          </a:p>
          <a:p>
            <a:pPr indent="0" marL="0">
              <a:buNone/>
            </a:pPr>
            <a:endParaRPr lang="en-US" sz="1300" dirty="0"/>
          </a:p>
          <a:p>
            <a:pPr marL="342900" indent="-342900">
              <a:buSzPct val="100000"/>
              <a:buChar char="•"/>
            </a:pPr>
            <a:r>
              <a:rPr lang="en-US" sz="1300" b="1" dirty="0">
                <a:solidFill>
                  <a:srgbClr val="1A2332"/>
                </a:solidFill>
                <a:latin typeface="Calibri" pitchFamily="34" charset="0"/>
                <a:ea typeface="Calibri" pitchFamily="34" charset="-122"/>
                <a:cs typeface="Calibri" pitchFamily="34" charset="-120"/>
              </a:rPr>
              <a:t>Must sync across devices</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  Real-time updates for the team</a:t>
            </a:r>
            <a:endParaRPr lang="en-US" sz="1300" dirty="0"/>
          </a:p>
          <a:p>
            <a:pPr indent="0" marL="0">
              <a:buNone/>
            </a:pPr>
            <a:endParaRPr lang="en-US" sz="1300" dirty="0"/>
          </a:p>
          <a:p>
            <a:pPr marL="342900" indent="-342900">
              <a:buSzPct val="100000"/>
              <a:buChar char="•"/>
            </a:pPr>
            <a:r>
              <a:rPr lang="en-US" sz="1300" b="1" dirty="0">
                <a:solidFill>
                  <a:srgbClr val="1A2332"/>
                </a:solidFill>
                <a:latin typeface="Calibri" pitchFamily="34" charset="0"/>
                <a:ea typeface="Calibri" pitchFamily="34" charset="-122"/>
                <a:cs typeface="Calibri" pitchFamily="34" charset="-120"/>
              </a:rPr>
              <a:t>Must work offline</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  localStorage as fallback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400800" y="-1828800"/>
            <a:ext cx="5486400" cy="5486400"/>
          </a:xfrm>
          <a:prstGeom prst="ellipse">
            <a:avLst/>
          </a:prstGeom>
          <a:solidFill>
            <a:srgbClr val="028090">
              <a:alpha val="15000"/>
            </a:srgbClr>
          </a:solidFill>
          <a:ln/>
        </p:spPr>
      </p:sp>
      <p:pic>
        <p:nvPicPr>
          <p:cNvPr id="3" name="Image 0" descr="preencoded.png">    </p:cNvPr>
          <p:cNvPicPr>
            <a:picLocks noChangeAspect="1"/>
          </p:cNvPicPr>
          <p:nvPr/>
        </p:nvPicPr>
        <p:blipFill>
          <a:blip r:embed="rId1"/>
          <a:stretch>
            <a:fillRect/>
          </a:stretch>
        </p:blipFill>
        <p:spPr>
          <a:xfrm>
            <a:off x="3886200" y="731520"/>
            <a:ext cx="1371600" cy="1371600"/>
          </a:xfrm>
          <a:prstGeom prst="rect">
            <a:avLst/>
          </a:prstGeom>
        </p:spPr>
      </p:pic>
      <p:sp>
        <p:nvSpPr>
          <p:cNvPr id="4" name="Text 1"/>
          <p:cNvSpPr/>
          <p:nvPr/>
        </p:nvSpPr>
        <p:spPr>
          <a:xfrm>
            <a:off x="457200" y="2286000"/>
            <a:ext cx="822960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Live Demo</a:t>
            </a:r>
            <a:endParaRPr lang="en-US" sz="4400" dirty="0"/>
          </a:p>
        </p:txBody>
      </p:sp>
      <p:sp>
        <p:nvSpPr>
          <p:cNvPr id="5" name="Text 2"/>
          <p:cNvSpPr/>
          <p:nvPr/>
        </p:nvSpPr>
        <p:spPr>
          <a:xfrm>
            <a:off x="914400" y="3108960"/>
            <a:ext cx="7315200" cy="457200"/>
          </a:xfrm>
          <a:prstGeom prst="rect">
            <a:avLst/>
          </a:prstGeom>
          <a:noFill/>
          <a:ln/>
        </p:spPr>
        <p:txBody>
          <a:bodyPr wrap="square" lIns="0" tIns="0" rIns="0" bIns="0" rtlCol="0" anchor="ctr"/>
          <a:lstStyle/>
          <a:p>
            <a:pPr algn="ctr" indent="0" marL="0">
              <a:buNone/>
            </a:pPr>
            <a:r>
              <a:rPr lang="en-US" sz="1800" dirty="0">
                <a:solidFill>
                  <a:srgbClr val="02C39A"/>
                </a:solidFill>
                <a:latin typeface="Calibri" pitchFamily="34" charset="0"/>
                <a:ea typeface="Calibri" pitchFamily="34" charset="-122"/>
                <a:cs typeface="Calibri" pitchFamily="34" charset="-120"/>
              </a:rPr>
              <a:t>Let's see it in action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Feature Highlights</a:t>
            </a:r>
            <a:endParaRPr lang="en-US" sz="3600" dirty="0"/>
          </a:p>
        </p:txBody>
      </p:sp>
      <p:sp>
        <p:nvSpPr>
          <p:cNvPr id="3" name="Shape 1"/>
          <p:cNvSpPr/>
          <p:nvPr/>
        </p:nvSpPr>
        <p:spPr>
          <a:xfrm>
            <a:off x="640080" y="1371600"/>
            <a:ext cx="3977640" cy="96012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777240" y="1527048"/>
            <a:ext cx="640080" cy="640080"/>
          </a:xfrm>
          <a:prstGeom prst="rect">
            <a:avLst/>
          </a:prstGeom>
        </p:spPr>
      </p:pic>
      <p:sp>
        <p:nvSpPr>
          <p:cNvPr id="5" name="Text 2"/>
          <p:cNvSpPr/>
          <p:nvPr/>
        </p:nvSpPr>
        <p:spPr>
          <a:xfrm>
            <a:off x="1554480" y="1444752"/>
            <a:ext cx="2834640" cy="36576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Medication Tracking</a:t>
            </a:r>
            <a:endParaRPr lang="en-US" sz="1500" dirty="0"/>
          </a:p>
        </p:txBody>
      </p:sp>
      <p:sp>
        <p:nvSpPr>
          <p:cNvPr id="6" name="Text 3"/>
          <p:cNvSpPr/>
          <p:nvPr/>
        </p:nvSpPr>
        <p:spPr>
          <a:xfrm>
            <a:off x="1554480" y="1828800"/>
            <a:ext cx="2834640" cy="41148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Multi-dog, multi-med with color-coded urgency</a:t>
            </a:r>
            <a:endParaRPr lang="en-US" sz="1200" dirty="0"/>
          </a:p>
        </p:txBody>
      </p:sp>
      <p:sp>
        <p:nvSpPr>
          <p:cNvPr id="7" name="Shape 4"/>
          <p:cNvSpPr/>
          <p:nvPr/>
        </p:nvSpPr>
        <p:spPr>
          <a:xfrm>
            <a:off x="4892040" y="1371600"/>
            <a:ext cx="3977640" cy="96012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5029200" y="1527048"/>
            <a:ext cx="640080" cy="640080"/>
          </a:xfrm>
          <a:prstGeom prst="rect">
            <a:avLst/>
          </a:prstGeom>
        </p:spPr>
      </p:pic>
      <p:sp>
        <p:nvSpPr>
          <p:cNvPr id="9" name="Text 5"/>
          <p:cNvSpPr/>
          <p:nvPr/>
        </p:nvSpPr>
        <p:spPr>
          <a:xfrm>
            <a:off x="5806440" y="1444752"/>
            <a:ext cx="2834640" cy="36576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Bill Management</a:t>
            </a:r>
            <a:endParaRPr lang="en-US" sz="1500" dirty="0"/>
          </a:p>
        </p:txBody>
      </p:sp>
      <p:sp>
        <p:nvSpPr>
          <p:cNvPr id="10" name="Text 6"/>
          <p:cNvSpPr/>
          <p:nvPr/>
        </p:nvSpPr>
        <p:spPr>
          <a:xfrm>
            <a:off x="5806440" y="1828800"/>
            <a:ext cx="2834640" cy="41148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Track expenses, mark paid/unpaid, generate invoices</a:t>
            </a:r>
            <a:endParaRPr lang="en-US" sz="1200" dirty="0"/>
          </a:p>
        </p:txBody>
      </p:sp>
      <p:sp>
        <p:nvSpPr>
          <p:cNvPr id="11" name="Shape 7"/>
          <p:cNvSpPr/>
          <p:nvPr/>
        </p:nvSpPr>
        <p:spPr>
          <a:xfrm>
            <a:off x="640080" y="2514600"/>
            <a:ext cx="3977640" cy="96012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777240" y="2670048"/>
            <a:ext cx="640080" cy="640080"/>
          </a:xfrm>
          <a:prstGeom prst="rect">
            <a:avLst/>
          </a:prstGeom>
        </p:spPr>
      </p:pic>
      <p:sp>
        <p:nvSpPr>
          <p:cNvPr id="13" name="Text 8"/>
          <p:cNvSpPr/>
          <p:nvPr/>
        </p:nvSpPr>
        <p:spPr>
          <a:xfrm>
            <a:off x="1554480" y="2587752"/>
            <a:ext cx="2834640" cy="36576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OCR Invoice Scanning</a:t>
            </a:r>
            <a:endParaRPr lang="en-US" sz="1500" dirty="0"/>
          </a:p>
        </p:txBody>
      </p:sp>
      <p:sp>
        <p:nvSpPr>
          <p:cNvPr id="14" name="Text 9"/>
          <p:cNvSpPr/>
          <p:nvPr/>
        </p:nvSpPr>
        <p:spPr>
          <a:xfrm>
            <a:off x="1554480" y="2971800"/>
            <a:ext cx="2834640" cy="41148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Upload a photo, extract items + prices automatically</a:t>
            </a:r>
            <a:endParaRPr lang="en-US" sz="1200" dirty="0"/>
          </a:p>
        </p:txBody>
      </p:sp>
      <p:sp>
        <p:nvSpPr>
          <p:cNvPr id="15" name="Shape 10"/>
          <p:cNvSpPr/>
          <p:nvPr/>
        </p:nvSpPr>
        <p:spPr>
          <a:xfrm>
            <a:off x="4892040" y="2514600"/>
            <a:ext cx="3977640" cy="96012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5029200" y="2670048"/>
            <a:ext cx="640080" cy="640080"/>
          </a:xfrm>
          <a:prstGeom prst="rect">
            <a:avLst/>
          </a:prstGeom>
        </p:spPr>
      </p:pic>
      <p:sp>
        <p:nvSpPr>
          <p:cNvPr id="17" name="Text 11"/>
          <p:cNvSpPr/>
          <p:nvPr/>
        </p:nvSpPr>
        <p:spPr>
          <a:xfrm>
            <a:off x="5806440" y="2587752"/>
            <a:ext cx="2834640" cy="36576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Cash Advance Forms</a:t>
            </a:r>
            <a:endParaRPr lang="en-US" sz="1500" dirty="0"/>
          </a:p>
        </p:txBody>
      </p:sp>
      <p:sp>
        <p:nvSpPr>
          <p:cNvPr id="18" name="Text 12"/>
          <p:cNvSpPr/>
          <p:nvPr/>
        </p:nvSpPr>
        <p:spPr>
          <a:xfrm>
            <a:off x="5806440" y="2971800"/>
            <a:ext cx="2834640" cy="41148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Export Excel forms with PromptPay support</a:t>
            </a:r>
            <a:endParaRPr lang="en-US" sz="1200" dirty="0"/>
          </a:p>
        </p:txBody>
      </p:sp>
      <p:sp>
        <p:nvSpPr>
          <p:cNvPr id="19" name="Shape 13"/>
          <p:cNvSpPr/>
          <p:nvPr/>
        </p:nvSpPr>
        <p:spPr>
          <a:xfrm>
            <a:off x="640080" y="3657600"/>
            <a:ext cx="3977640" cy="96012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20" name="Image 4" descr="preencoded.png">    </p:cNvPr>
          <p:cNvPicPr>
            <a:picLocks noChangeAspect="1"/>
          </p:cNvPicPr>
          <p:nvPr/>
        </p:nvPicPr>
        <p:blipFill>
          <a:blip r:embed="rId5"/>
          <a:stretch>
            <a:fillRect/>
          </a:stretch>
        </p:blipFill>
        <p:spPr>
          <a:xfrm>
            <a:off x="777240" y="3813048"/>
            <a:ext cx="640080" cy="640080"/>
          </a:xfrm>
          <a:prstGeom prst="rect">
            <a:avLst/>
          </a:prstGeom>
        </p:spPr>
      </p:pic>
      <p:sp>
        <p:nvSpPr>
          <p:cNvPr id="21" name="Text 14"/>
          <p:cNvSpPr/>
          <p:nvPr/>
        </p:nvSpPr>
        <p:spPr>
          <a:xfrm>
            <a:off x="1554480" y="3730752"/>
            <a:ext cx="2834640" cy="36576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Slack Notifications</a:t>
            </a:r>
            <a:endParaRPr lang="en-US" sz="1500" dirty="0"/>
          </a:p>
        </p:txBody>
      </p:sp>
      <p:sp>
        <p:nvSpPr>
          <p:cNvPr id="22" name="Text 15"/>
          <p:cNvSpPr/>
          <p:nvPr/>
        </p:nvSpPr>
        <p:spPr>
          <a:xfrm>
            <a:off x="1554480" y="4114800"/>
            <a:ext cx="2834640" cy="41148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Daily alerts for overdue meds and bills</a:t>
            </a:r>
            <a:endParaRPr lang="en-US" sz="1200" dirty="0"/>
          </a:p>
        </p:txBody>
      </p:sp>
      <p:sp>
        <p:nvSpPr>
          <p:cNvPr id="23" name="Shape 16"/>
          <p:cNvSpPr/>
          <p:nvPr/>
        </p:nvSpPr>
        <p:spPr>
          <a:xfrm>
            <a:off x="4892040" y="3657600"/>
            <a:ext cx="3977640" cy="96012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24" name="Image 5" descr="preencoded.png">    </p:cNvPr>
          <p:cNvPicPr>
            <a:picLocks noChangeAspect="1"/>
          </p:cNvPicPr>
          <p:nvPr/>
        </p:nvPicPr>
        <p:blipFill>
          <a:blip r:embed="rId6"/>
          <a:stretch>
            <a:fillRect/>
          </a:stretch>
        </p:blipFill>
        <p:spPr>
          <a:xfrm>
            <a:off x="5029200" y="3813048"/>
            <a:ext cx="640080" cy="640080"/>
          </a:xfrm>
          <a:prstGeom prst="rect">
            <a:avLst/>
          </a:prstGeom>
        </p:spPr>
      </p:pic>
      <p:sp>
        <p:nvSpPr>
          <p:cNvPr id="25" name="Text 17"/>
          <p:cNvSpPr/>
          <p:nvPr/>
        </p:nvSpPr>
        <p:spPr>
          <a:xfrm>
            <a:off x="5806440" y="3730752"/>
            <a:ext cx="2834640" cy="36576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Firebase Sync</a:t>
            </a:r>
            <a:endParaRPr lang="en-US" sz="1500" dirty="0"/>
          </a:p>
        </p:txBody>
      </p:sp>
      <p:sp>
        <p:nvSpPr>
          <p:cNvPr id="26" name="Text 18"/>
          <p:cNvSpPr/>
          <p:nvPr/>
        </p:nvSpPr>
        <p:spPr>
          <a:xfrm>
            <a:off x="5806440" y="4114800"/>
            <a:ext cx="2834640" cy="41148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Real-time cloud sync with offline fallback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0A896">
              <a:alpha val="15000"/>
            </a:srgbClr>
          </a:solidFill>
          <a:ln/>
        </p:spPr>
      </p:sp>
      <p:pic>
        <p:nvPicPr>
          <p:cNvPr id="3" name="Image 0" descr="preencoded.png">    </p:cNvPr>
          <p:cNvPicPr>
            <a:picLocks noChangeAspect="1"/>
          </p:cNvPicPr>
          <p:nvPr/>
        </p:nvPicPr>
        <p:blipFill>
          <a:blip r:embed="rId1"/>
          <a:stretch>
            <a:fillRect/>
          </a:stretch>
        </p:blipFill>
        <p:spPr>
          <a:xfrm>
            <a:off x="3886200" y="731520"/>
            <a:ext cx="1371600" cy="1371600"/>
          </a:xfrm>
          <a:prstGeom prst="rect">
            <a:avLst/>
          </a:prstGeom>
        </p:spPr>
      </p:pic>
      <p:sp>
        <p:nvSpPr>
          <p:cNvPr id="4" name="Text 1"/>
          <p:cNvSpPr/>
          <p:nvPr/>
        </p:nvSpPr>
        <p:spPr>
          <a:xfrm>
            <a:off x="457200" y="2286000"/>
            <a:ext cx="822960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Under the Hood</a:t>
            </a:r>
            <a:endParaRPr lang="en-US" sz="4400" dirty="0"/>
          </a:p>
        </p:txBody>
      </p:sp>
      <p:sp>
        <p:nvSpPr>
          <p:cNvPr id="5" name="Text 2"/>
          <p:cNvSpPr/>
          <p:nvPr/>
        </p:nvSpPr>
        <p:spPr>
          <a:xfrm>
            <a:off x="914400" y="3108960"/>
            <a:ext cx="7315200" cy="457200"/>
          </a:xfrm>
          <a:prstGeom prst="rect">
            <a:avLst/>
          </a:prstGeom>
          <a:noFill/>
          <a:ln/>
        </p:spPr>
        <p:txBody>
          <a:bodyPr wrap="square" lIns="0" tIns="0" rIns="0" bIns="0" rtlCol="0" anchor="ctr"/>
          <a:lstStyle/>
          <a:p>
            <a:pPr algn="ctr" indent="0" marL="0">
              <a:buNone/>
            </a:pPr>
            <a:r>
              <a:rPr lang="en-US" sz="1800" dirty="0">
                <a:solidFill>
                  <a:srgbClr val="02C39A"/>
                </a:solidFill>
                <a:latin typeface="Calibri" pitchFamily="34" charset="0"/>
                <a:ea typeface="Calibri" pitchFamily="34" charset="-122"/>
                <a:cs typeface="Calibri" pitchFamily="34" charset="-120"/>
              </a:rPr>
              <a:t>Architecture &amp; Tech Decisions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45720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Tech Stack</a:t>
            </a:r>
            <a:endParaRPr lang="en-US" sz="3600" dirty="0"/>
          </a:p>
        </p:txBody>
      </p:sp>
      <p:sp>
        <p:nvSpPr>
          <p:cNvPr id="3" name="Shape 1"/>
          <p:cNvSpPr/>
          <p:nvPr/>
        </p:nvSpPr>
        <p:spPr>
          <a:xfrm>
            <a:off x="6217920" y="320040"/>
            <a:ext cx="2468880" cy="822960"/>
          </a:xfrm>
          <a:prstGeom prst="rect">
            <a:avLst/>
          </a:prstGeom>
          <a:solidFill>
            <a:srgbClr val="028090"/>
          </a:solidFill>
          <a:ln/>
          <a:effectLst>
            <a:outerShdw sx="100000" sy="100000" kx="0" ky="0" algn="bl" rotWithShape="0" blurRad="76200" dist="25400" dir="8100000">
              <a:srgbClr val="000000">
                <a:alpha val="10000"/>
              </a:srgbClr>
            </a:outerShdw>
          </a:effectLst>
        </p:spPr>
      </p:sp>
      <p:sp>
        <p:nvSpPr>
          <p:cNvPr id="4" name="Text 2"/>
          <p:cNvSpPr/>
          <p:nvPr/>
        </p:nvSpPr>
        <p:spPr>
          <a:xfrm>
            <a:off x="6217920" y="228600"/>
            <a:ext cx="2468880" cy="594360"/>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~1,350</a:t>
            </a:r>
            <a:endParaRPr lang="en-US" sz="2800" dirty="0"/>
          </a:p>
        </p:txBody>
      </p:sp>
      <p:sp>
        <p:nvSpPr>
          <p:cNvPr id="5" name="Text 3"/>
          <p:cNvSpPr/>
          <p:nvPr/>
        </p:nvSpPr>
        <p:spPr>
          <a:xfrm>
            <a:off x="6217920" y="749808"/>
            <a:ext cx="2468880" cy="3200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lines of code</a:t>
            </a:r>
            <a:endParaRPr lang="en-US" sz="1100" dirty="0"/>
          </a:p>
        </p:txBody>
      </p:sp>
      <p:sp>
        <p:nvSpPr>
          <p:cNvPr id="6" name="Shape 4"/>
          <p:cNvSpPr/>
          <p:nvPr/>
        </p:nvSpPr>
        <p:spPr>
          <a:xfrm>
            <a:off x="640080" y="1371600"/>
            <a:ext cx="3840480" cy="31089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822960" y="1463040"/>
            <a:ext cx="3474720" cy="411480"/>
          </a:xfrm>
          <a:prstGeom prst="rect">
            <a:avLst/>
          </a:prstGeom>
          <a:noFill/>
          <a:ln/>
        </p:spPr>
        <p:txBody>
          <a:bodyPr wrap="square" lIns="0" tIns="0" rIns="0" bIns="0" rtlCol="0" anchor="ctr"/>
          <a:lstStyle/>
          <a:p>
            <a:pPr indent="0" marL="0">
              <a:buNone/>
            </a:pPr>
            <a:r>
              <a:rPr lang="en-US" sz="1600" b="1" dirty="0">
                <a:solidFill>
                  <a:srgbClr val="028090"/>
                </a:solidFill>
                <a:latin typeface="Trebuchet MS" pitchFamily="34" charset="0"/>
                <a:ea typeface="Trebuchet MS" pitchFamily="34" charset="-122"/>
                <a:cs typeface="Trebuchet MS" pitchFamily="34" charset="-120"/>
              </a:rPr>
              <a:t>Frontend</a:t>
            </a:r>
            <a:endParaRPr lang="en-US" sz="1600" dirty="0"/>
          </a:p>
        </p:txBody>
      </p:sp>
      <p:sp>
        <p:nvSpPr>
          <p:cNvPr id="8" name="Text 6"/>
          <p:cNvSpPr/>
          <p:nvPr/>
        </p:nvSpPr>
        <p:spPr>
          <a:xfrm>
            <a:off x="822960" y="2011680"/>
            <a:ext cx="2286000" cy="365760"/>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React 18.2</a:t>
            </a:r>
            <a:endParaRPr lang="en-US" sz="1500" dirty="0"/>
          </a:p>
        </p:txBody>
      </p:sp>
      <p:sp>
        <p:nvSpPr>
          <p:cNvPr id="9" name="Shape 7"/>
          <p:cNvSpPr/>
          <p:nvPr/>
        </p:nvSpPr>
        <p:spPr>
          <a:xfrm>
            <a:off x="3017520" y="2057400"/>
            <a:ext cx="1234440" cy="274320"/>
          </a:xfrm>
          <a:prstGeom prst="rect">
            <a:avLst/>
          </a:prstGeom>
          <a:solidFill>
            <a:srgbClr val="028090"/>
          </a:solidFill>
          <a:ln/>
        </p:spPr>
      </p:sp>
      <p:sp>
        <p:nvSpPr>
          <p:cNvPr id="10" name="Text 8"/>
          <p:cNvSpPr/>
          <p:nvPr/>
        </p:nvSpPr>
        <p:spPr>
          <a:xfrm>
            <a:off x="3017520" y="2057400"/>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UI Framework</a:t>
            </a:r>
            <a:endParaRPr lang="en-US" sz="1000" dirty="0"/>
          </a:p>
        </p:txBody>
      </p:sp>
      <p:sp>
        <p:nvSpPr>
          <p:cNvPr id="11" name="Text 9"/>
          <p:cNvSpPr/>
          <p:nvPr/>
        </p:nvSpPr>
        <p:spPr>
          <a:xfrm>
            <a:off x="822960" y="2743200"/>
            <a:ext cx="2286000" cy="365760"/>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Babel Standalone</a:t>
            </a:r>
            <a:endParaRPr lang="en-US" sz="1500" dirty="0"/>
          </a:p>
        </p:txBody>
      </p:sp>
      <p:sp>
        <p:nvSpPr>
          <p:cNvPr id="12" name="Shape 10"/>
          <p:cNvSpPr/>
          <p:nvPr/>
        </p:nvSpPr>
        <p:spPr>
          <a:xfrm>
            <a:off x="3017520" y="2788920"/>
            <a:ext cx="1234440" cy="274320"/>
          </a:xfrm>
          <a:prstGeom prst="rect">
            <a:avLst/>
          </a:prstGeom>
          <a:solidFill>
            <a:srgbClr val="00A896"/>
          </a:solidFill>
          <a:ln/>
        </p:spPr>
      </p:sp>
      <p:sp>
        <p:nvSpPr>
          <p:cNvPr id="13" name="Text 11"/>
          <p:cNvSpPr/>
          <p:nvPr/>
        </p:nvSpPr>
        <p:spPr>
          <a:xfrm>
            <a:off x="3017520" y="2788920"/>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JSX Compiler</a:t>
            </a:r>
            <a:endParaRPr lang="en-US" sz="1000" dirty="0"/>
          </a:p>
        </p:txBody>
      </p:sp>
      <p:sp>
        <p:nvSpPr>
          <p:cNvPr id="14" name="Text 12"/>
          <p:cNvSpPr/>
          <p:nvPr/>
        </p:nvSpPr>
        <p:spPr>
          <a:xfrm>
            <a:off x="822960" y="3474720"/>
            <a:ext cx="2286000" cy="365760"/>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Tailwind CSS</a:t>
            </a:r>
            <a:endParaRPr lang="en-US" sz="1500" dirty="0"/>
          </a:p>
        </p:txBody>
      </p:sp>
      <p:sp>
        <p:nvSpPr>
          <p:cNvPr id="15" name="Shape 13"/>
          <p:cNvSpPr/>
          <p:nvPr/>
        </p:nvSpPr>
        <p:spPr>
          <a:xfrm>
            <a:off x="3017520" y="3520440"/>
            <a:ext cx="1234440" cy="274320"/>
          </a:xfrm>
          <a:prstGeom prst="rect">
            <a:avLst/>
          </a:prstGeom>
          <a:solidFill>
            <a:srgbClr val="02C39A"/>
          </a:solidFill>
          <a:ln/>
        </p:spPr>
      </p:sp>
      <p:sp>
        <p:nvSpPr>
          <p:cNvPr id="16" name="Text 14"/>
          <p:cNvSpPr/>
          <p:nvPr/>
        </p:nvSpPr>
        <p:spPr>
          <a:xfrm>
            <a:off x="3017520" y="3520440"/>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Styling</a:t>
            </a:r>
            <a:endParaRPr lang="en-US" sz="1000" dirty="0"/>
          </a:p>
        </p:txBody>
      </p:sp>
      <p:sp>
        <p:nvSpPr>
          <p:cNvPr id="17" name="Shape 15"/>
          <p:cNvSpPr/>
          <p:nvPr/>
        </p:nvSpPr>
        <p:spPr>
          <a:xfrm>
            <a:off x="4754880" y="1371600"/>
            <a:ext cx="3840480" cy="31089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8" name="Text 16"/>
          <p:cNvSpPr/>
          <p:nvPr/>
        </p:nvSpPr>
        <p:spPr>
          <a:xfrm>
            <a:off x="4937760" y="1463040"/>
            <a:ext cx="3474720" cy="411480"/>
          </a:xfrm>
          <a:prstGeom prst="rect">
            <a:avLst/>
          </a:prstGeom>
          <a:noFill/>
          <a:ln/>
        </p:spPr>
        <p:txBody>
          <a:bodyPr wrap="square" lIns="0" tIns="0" rIns="0" bIns="0" rtlCol="0" anchor="ctr"/>
          <a:lstStyle/>
          <a:p>
            <a:pPr indent="0" marL="0">
              <a:buNone/>
            </a:pPr>
            <a:r>
              <a:rPr lang="en-US" sz="1600" b="1" dirty="0">
                <a:solidFill>
                  <a:srgbClr val="00A896"/>
                </a:solidFill>
                <a:latin typeface="Trebuchet MS" pitchFamily="34" charset="0"/>
                <a:ea typeface="Trebuchet MS" pitchFamily="34" charset="-122"/>
                <a:cs typeface="Trebuchet MS" pitchFamily="34" charset="-120"/>
              </a:rPr>
              <a:t>Services &amp; Libraries</a:t>
            </a:r>
            <a:endParaRPr lang="en-US" sz="1600" dirty="0"/>
          </a:p>
        </p:txBody>
      </p:sp>
      <p:sp>
        <p:nvSpPr>
          <p:cNvPr id="19" name="Text 17"/>
          <p:cNvSpPr/>
          <p:nvPr/>
        </p:nvSpPr>
        <p:spPr>
          <a:xfrm>
            <a:off x="4937760" y="2011680"/>
            <a:ext cx="2286000" cy="365760"/>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Firebase Realtime DB</a:t>
            </a:r>
            <a:endParaRPr lang="en-US" sz="1500" dirty="0"/>
          </a:p>
        </p:txBody>
      </p:sp>
      <p:sp>
        <p:nvSpPr>
          <p:cNvPr id="20" name="Shape 18"/>
          <p:cNvSpPr/>
          <p:nvPr/>
        </p:nvSpPr>
        <p:spPr>
          <a:xfrm>
            <a:off x="7132320" y="2057400"/>
            <a:ext cx="1234440" cy="274320"/>
          </a:xfrm>
          <a:prstGeom prst="rect">
            <a:avLst/>
          </a:prstGeom>
          <a:solidFill>
            <a:srgbClr val="028090"/>
          </a:solidFill>
          <a:ln/>
        </p:spPr>
      </p:sp>
      <p:sp>
        <p:nvSpPr>
          <p:cNvPr id="21" name="Text 19"/>
          <p:cNvSpPr/>
          <p:nvPr/>
        </p:nvSpPr>
        <p:spPr>
          <a:xfrm>
            <a:off x="7132320" y="2057400"/>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Cloud Sync</a:t>
            </a:r>
            <a:endParaRPr lang="en-US" sz="1000" dirty="0"/>
          </a:p>
        </p:txBody>
      </p:sp>
      <p:sp>
        <p:nvSpPr>
          <p:cNvPr id="22" name="Text 20"/>
          <p:cNvSpPr/>
          <p:nvPr/>
        </p:nvSpPr>
        <p:spPr>
          <a:xfrm>
            <a:off x="4937760" y="2743200"/>
            <a:ext cx="2286000" cy="365760"/>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Tesseract.js 5</a:t>
            </a:r>
            <a:endParaRPr lang="en-US" sz="1500" dirty="0"/>
          </a:p>
        </p:txBody>
      </p:sp>
      <p:sp>
        <p:nvSpPr>
          <p:cNvPr id="23" name="Shape 21"/>
          <p:cNvSpPr/>
          <p:nvPr/>
        </p:nvSpPr>
        <p:spPr>
          <a:xfrm>
            <a:off x="7132320" y="2788920"/>
            <a:ext cx="1234440" cy="274320"/>
          </a:xfrm>
          <a:prstGeom prst="rect">
            <a:avLst/>
          </a:prstGeom>
          <a:solidFill>
            <a:srgbClr val="00A896"/>
          </a:solidFill>
          <a:ln/>
        </p:spPr>
      </p:sp>
      <p:sp>
        <p:nvSpPr>
          <p:cNvPr id="24" name="Text 22"/>
          <p:cNvSpPr/>
          <p:nvPr/>
        </p:nvSpPr>
        <p:spPr>
          <a:xfrm>
            <a:off x="7132320" y="2788920"/>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OCR Engine</a:t>
            </a:r>
            <a:endParaRPr lang="en-US" sz="1000" dirty="0"/>
          </a:p>
        </p:txBody>
      </p:sp>
      <p:sp>
        <p:nvSpPr>
          <p:cNvPr id="25" name="Text 23"/>
          <p:cNvSpPr/>
          <p:nvPr/>
        </p:nvSpPr>
        <p:spPr>
          <a:xfrm>
            <a:off x="4937760" y="3474720"/>
            <a:ext cx="2286000" cy="365760"/>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SheetJS (XLSX)</a:t>
            </a:r>
            <a:endParaRPr lang="en-US" sz="1500" dirty="0"/>
          </a:p>
        </p:txBody>
      </p:sp>
      <p:sp>
        <p:nvSpPr>
          <p:cNvPr id="26" name="Shape 24"/>
          <p:cNvSpPr/>
          <p:nvPr/>
        </p:nvSpPr>
        <p:spPr>
          <a:xfrm>
            <a:off x="7132320" y="3520440"/>
            <a:ext cx="1234440" cy="274320"/>
          </a:xfrm>
          <a:prstGeom prst="rect">
            <a:avLst/>
          </a:prstGeom>
          <a:solidFill>
            <a:srgbClr val="02C39A"/>
          </a:solidFill>
          <a:ln/>
        </p:spPr>
      </p:sp>
      <p:sp>
        <p:nvSpPr>
          <p:cNvPr id="27" name="Text 25"/>
          <p:cNvSpPr/>
          <p:nvPr/>
        </p:nvSpPr>
        <p:spPr>
          <a:xfrm>
            <a:off x="7132320" y="3520440"/>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Excel Export</a:t>
            </a:r>
            <a:endParaRPr lang="en-US" sz="1000" dirty="0"/>
          </a:p>
        </p:txBody>
      </p:sp>
      <p:sp>
        <p:nvSpPr>
          <p:cNvPr id="28" name="Text 26"/>
          <p:cNvSpPr/>
          <p:nvPr/>
        </p:nvSpPr>
        <p:spPr>
          <a:xfrm>
            <a:off x="640080" y="4617720"/>
            <a:ext cx="7863840" cy="365760"/>
          </a:xfrm>
          <a:prstGeom prst="rect">
            <a:avLst/>
          </a:prstGeom>
          <a:noFill/>
          <a:ln/>
        </p:spPr>
        <p:txBody>
          <a:bodyPr wrap="square" lIns="0" tIns="0" rIns="0" bIns="0" rtlCol="0" anchor="ctr"/>
          <a:lstStyle/>
          <a:p>
            <a:pPr algn="ctr" indent="0" marL="0">
              <a:buNone/>
            </a:pPr>
            <a:r>
              <a:rPr lang="en-US" sz="1300" i="1" dirty="0">
                <a:solidFill>
                  <a:srgbClr val="8896A5"/>
                </a:solidFill>
                <a:latin typeface="Calibri" pitchFamily="34" charset="0"/>
                <a:ea typeface="Calibri" pitchFamily="34" charset="-122"/>
                <a:cs typeface="Calibri" pitchFamily="34" charset="-120"/>
              </a:rPr>
              <a:t>All loaded from CDN — zero local dependencies, zero build process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Single-File Architecture</a:t>
            </a:r>
            <a:endParaRPr lang="en-US" sz="3600" dirty="0"/>
          </a:p>
        </p:txBody>
      </p:sp>
      <p:sp>
        <p:nvSpPr>
          <p:cNvPr id="3" name="Shape 1"/>
          <p:cNvSpPr/>
          <p:nvPr/>
        </p:nvSpPr>
        <p:spPr>
          <a:xfrm>
            <a:off x="640080" y="1371600"/>
            <a:ext cx="3840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4" name="Shape 2"/>
          <p:cNvSpPr/>
          <p:nvPr/>
        </p:nvSpPr>
        <p:spPr>
          <a:xfrm>
            <a:off x="640080" y="1371600"/>
            <a:ext cx="3840480" cy="457200"/>
          </a:xfrm>
          <a:prstGeom prst="rect">
            <a:avLst/>
          </a:prstGeom>
          <a:solidFill>
            <a:srgbClr val="E8D5D5"/>
          </a:solidFill>
          <a:ln/>
        </p:spPr>
      </p:sp>
      <p:sp>
        <p:nvSpPr>
          <p:cNvPr id="5" name="Text 3"/>
          <p:cNvSpPr/>
          <p:nvPr/>
        </p:nvSpPr>
        <p:spPr>
          <a:xfrm>
            <a:off x="822960" y="1371600"/>
            <a:ext cx="3474720" cy="457200"/>
          </a:xfrm>
          <a:prstGeom prst="rect">
            <a:avLst/>
          </a:prstGeom>
          <a:noFill/>
          <a:ln/>
        </p:spPr>
        <p:txBody>
          <a:bodyPr wrap="square" lIns="0" tIns="0" rIns="0" bIns="0" rtlCol="0" anchor="ctr"/>
          <a:lstStyle/>
          <a:p>
            <a:pPr indent="0" marL="0">
              <a:buNone/>
            </a:pPr>
            <a:r>
              <a:rPr lang="en-US" sz="1400" b="1" dirty="0">
                <a:solidFill>
                  <a:srgbClr val="8B4545"/>
                </a:solidFill>
                <a:latin typeface="Trebuchet MS" pitchFamily="34" charset="0"/>
                <a:ea typeface="Trebuchet MS" pitchFamily="34" charset="-122"/>
                <a:cs typeface="Trebuchet MS" pitchFamily="34" charset="-120"/>
              </a:rPr>
              <a:t>Traditional React App</a:t>
            </a:r>
            <a:endParaRPr lang="en-US" sz="1400" dirty="0"/>
          </a:p>
        </p:txBody>
      </p:sp>
      <p:sp>
        <p:nvSpPr>
          <p:cNvPr id="6" name="Text 4"/>
          <p:cNvSpPr/>
          <p:nvPr/>
        </p:nvSpPr>
        <p:spPr>
          <a:xfrm>
            <a:off x="822960" y="1965960"/>
            <a:ext cx="347472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1. npm install (500+ packages)</a:t>
            </a:r>
            <a:endParaRPr lang="en-US" sz="1300" dirty="0"/>
          </a:p>
        </p:txBody>
      </p:sp>
      <p:sp>
        <p:nvSpPr>
          <p:cNvPr id="7" name="Text 5"/>
          <p:cNvSpPr/>
          <p:nvPr/>
        </p:nvSpPr>
        <p:spPr>
          <a:xfrm>
            <a:off x="822960" y="2350008"/>
            <a:ext cx="347472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2. Configure webpack / Vite</a:t>
            </a:r>
            <a:endParaRPr lang="en-US" sz="1300" dirty="0"/>
          </a:p>
        </p:txBody>
      </p:sp>
      <p:sp>
        <p:nvSpPr>
          <p:cNvPr id="8" name="Text 6"/>
          <p:cNvSpPr/>
          <p:nvPr/>
        </p:nvSpPr>
        <p:spPr>
          <a:xfrm>
            <a:off x="822960" y="2734056"/>
            <a:ext cx="347472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3. Set up environment variables</a:t>
            </a:r>
            <a:endParaRPr lang="en-US" sz="1300" dirty="0"/>
          </a:p>
        </p:txBody>
      </p:sp>
      <p:sp>
        <p:nvSpPr>
          <p:cNvPr id="9" name="Text 7"/>
          <p:cNvSpPr/>
          <p:nvPr/>
        </p:nvSpPr>
        <p:spPr>
          <a:xfrm>
            <a:off x="822960" y="3118104"/>
            <a:ext cx="347472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4. npm run build</a:t>
            </a:r>
            <a:endParaRPr lang="en-US" sz="1300" dirty="0"/>
          </a:p>
        </p:txBody>
      </p:sp>
      <p:sp>
        <p:nvSpPr>
          <p:cNvPr id="10" name="Text 8"/>
          <p:cNvSpPr/>
          <p:nvPr/>
        </p:nvSpPr>
        <p:spPr>
          <a:xfrm>
            <a:off x="822960" y="3502152"/>
            <a:ext cx="347472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5. Deploy to hosting server</a:t>
            </a:r>
            <a:endParaRPr lang="en-US" sz="1300" dirty="0"/>
          </a:p>
        </p:txBody>
      </p:sp>
      <p:sp>
        <p:nvSpPr>
          <p:cNvPr id="11" name="Text 9"/>
          <p:cNvSpPr/>
          <p:nvPr/>
        </p:nvSpPr>
        <p:spPr>
          <a:xfrm>
            <a:off x="822960" y="3886200"/>
            <a:ext cx="347472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6. Configure CI/CD pipeline</a:t>
            </a:r>
            <a:endParaRPr lang="en-US" sz="1300" dirty="0"/>
          </a:p>
        </p:txBody>
      </p:sp>
      <p:sp>
        <p:nvSpPr>
          <p:cNvPr id="12" name="Shape 10"/>
          <p:cNvSpPr/>
          <p:nvPr/>
        </p:nvSpPr>
        <p:spPr>
          <a:xfrm>
            <a:off x="4754880" y="1371600"/>
            <a:ext cx="3840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4754880" y="1371600"/>
            <a:ext cx="3840480" cy="457200"/>
          </a:xfrm>
          <a:prstGeom prst="rect">
            <a:avLst/>
          </a:prstGeom>
          <a:solidFill>
            <a:srgbClr val="D5E8E0"/>
          </a:solidFill>
          <a:ln/>
        </p:spPr>
      </p:sp>
      <p:sp>
        <p:nvSpPr>
          <p:cNvPr id="14" name="Text 12"/>
          <p:cNvSpPr/>
          <p:nvPr/>
        </p:nvSpPr>
        <p:spPr>
          <a:xfrm>
            <a:off x="4937760" y="1371600"/>
            <a:ext cx="3474720" cy="457200"/>
          </a:xfrm>
          <a:prstGeom prst="rect">
            <a:avLst/>
          </a:prstGeom>
          <a:noFill/>
          <a:ln/>
        </p:spPr>
        <p:txBody>
          <a:bodyPr wrap="square" lIns="0" tIns="0" rIns="0" bIns="0" rtlCol="0" anchor="ctr"/>
          <a:lstStyle/>
          <a:p>
            <a:pPr indent="0" marL="0">
              <a:buNone/>
            </a:pPr>
            <a:r>
              <a:rPr lang="en-US" sz="1400" b="1" dirty="0">
                <a:solidFill>
                  <a:srgbClr val="028090"/>
                </a:solidFill>
                <a:latin typeface="Trebuchet MS" pitchFamily="34" charset="0"/>
                <a:ea typeface="Trebuchet MS" pitchFamily="34" charset="-122"/>
                <a:cs typeface="Trebuchet MS" pitchFamily="34" charset="-120"/>
              </a:rPr>
              <a:t>The Dog Log</a:t>
            </a:r>
            <a:endParaRPr lang="en-US" sz="1400" dirty="0"/>
          </a:p>
        </p:txBody>
      </p:sp>
      <p:sp>
        <p:nvSpPr>
          <p:cNvPr id="15" name="Text 13"/>
          <p:cNvSpPr/>
          <p:nvPr/>
        </p:nvSpPr>
        <p:spPr>
          <a:xfrm>
            <a:off x="4937760" y="1965960"/>
            <a:ext cx="3474720" cy="36576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1. Open HTML file in browser</a:t>
            </a:r>
            <a:endParaRPr lang="en-US" sz="1300" dirty="0"/>
          </a:p>
        </p:txBody>
      </p:sp>
      <p:sp>
        <p:nvSpPr>
          <p:cNvPr id="16" name="Text 14"/>
          <p:cNvSpPr/>
          <p:nvPr/>
        </p:nvSpPr>
        <p:spPr>
          <a:xfrm>
            <a:off x="4937760" y="2468880"/>
            <a:ext cx="3474720" cy="548640"/>
          </a:xfrm>
          <a:prstGeom prst="rect">
            <a:avLst/>
          </a:prstGeom>
          <a:noFill/>
          <a:ln/>
        </p:spPr>
        <p:txBody>
          <a:bodyPr wrap="square" lIns="0" tIns="0" rIns="0" bIns="0" rtlCol="0" anchor="ctr"/>
          <a:lstStyle/>
          <a:p>
            <a:pPr indent="0" marL="0">
              <a:buNone/>
            </a:pPr>
            <a:r>
              <a:rPr lang="en-US" sz="2200" b="1" dirty="0">
                <a:solidFill>
                  <a:srgbClr val="028090"/>
                </a:solidFill>
                <a:latin typeface="Trebuchet MS" pitchFamily="34" charset="0"/>
                <a:ea typeface="Trebuchet MS" pitchFamily="34" charset="-122"/>
                <a:cs typeface="Trebuchet MS" pitchFamily="34" charset="-120"/>
              </a:rPr>
              <a:t>That's it.</a:t>
            </a:r>
            <a:endParaRPr lang="en-US" sz="2200" dirty="0"/>
          </a:p>
        </p:txBody>
      </p:sp>
      <p:sp>
        <p:nvSpPr>
          <p:cNvPr id="17" name="Text 15"/>
          <p:cNvSpPr/>
          <p:nvPr/>
        </p:nvSpPr>
        <p:spPr>
          <a:xfrm>
            <a:off x="4937760" y="3108960"/>
            <a:ext cx="3474720" cy="1280160"/>
          </a:xfrm>
          <a:prstGeom prst="rect">
            <a:avLst/>
          </a:prstGeom>
          <a:noFill/>
          <a:ln/>
        </p:spPr>
        <p:txBody>
          <a:bodyPr wrap="square" lIns="0" tIns="0" rIns="0" bIns="0" rtlCol="0" anchor="ctr"/>
          <a:lstStyle/>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CDN handles dependencies</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Babel compiles JSX in browser</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localStorage for persistence</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Firebase optional (for sync)</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Hybrid Storage Strategy</a:t>
            </a:r>
            <a:endParaRPr lang="en-US" sz="3600" dirty="0"/>
          </a:p>
        </p:txBody>
      </p:sp>
      <p:sp>
        <p:nvSpPr>
          <p:cNvPr id="3" name="Shape 1"/>
          <p:cNvSpPr/>
          <p:nvPr/>
        </p:nvSpPr>
        <p:spPr>
          <a:xfrm>
            <a:off x="640080" y="1463040"/>
            <a:ext cx="2286000" cy="1097280"/>
          </a:xfrm>
          <a:prstGeom prst="rect">
            <a:avLst/>
          </a:prstGeom>
          <a:solidFill>
            <a:srgbClr val="028090"/>
          </a:solidFill>
          <a:ln/>
          <a:effectLst>
            <a:outerShdw sx="100000" sy="100000" kx="0" ky="0" algn="bl" rotWithShape="0" blurRad="76200" dist="25400" dir="8100000">
              <a:srgbClr val="000000">
                <a:alpha val="10000"/>
              </a:srgbClr>
            </a:outerShdw>
          </a:effectLst>
        </p:spPr>
      </p:sp>
      <p:sp>
        <p:nvSpPr>
          <p:cNvPr id="4" name="Text 2"/>
          <p:cNvSpPr/>
          <p:nvPr/>
        </p:nvSpPr>
        <p:spPr>
          <a:xfrm>
            <a:off x="640080" y="1463040"/>
            <a:ext cx="228600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localStorage</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Primary + Fallback</a:t>
            </a:r>
            <a:endParaRPr lang="en-US" sz="1600" dirty="0"/>
          </a:p>
        </p:txBody>
      </p:sp>
      <p:sp>
        <p:nvSpPr>
          <p:cNvPr id="5" name="Shape 3"/>
          <p:cNvSpPr/>
          <p:nvPr/>
        </p:nvSpPr>
        <p:spPr>
          <a:xfrm>
            <a:off x="3017520" y="2011680"/>
            <a:ext cx="548640" cy="0"/>
          </a:xfrm>
          <a:prstGeom prst="line">
            <a:avLst/>
          </a:prstGeom>
          <a:noFill/>
          <a:ln w="25400">
            <a:solidFill>
              <a:srgbClr val="8896A5"/>
            </a:solidFill>
            <a:prstDash val="solid"/>
          </a:ln>
        </p:spPr>
      </p:sp>
      <p:sp>
        <p:nvSpPr>
          <p:cNvPr id="6" name="Shape 4"/>
          <p:cNvSpPr/>
          <p:nvPr/>
        </p:nvSpPr>
        <p:spPr>
          <a:xfrm>
            <a:off x="3657600" y="1463040"/>
            <a:ext cx="2011680" cy="1097280"/>
          </a:xfrm>
          <a:prstGeom prst="rect">
            <a:avLst/>
          </a:prstGeom>
          <a:solidFill>
            <a:srgbClr val="0A1628"/>
          </a:solidFill>
          <a:ln/>
          <a:effectLst>
            <a:outerShdw sx="100000" sy="100000" kx="0" ky="0" algn="bl" rotWithShape="0" blurRad="76200" dist="25400" dir="8100000">
              <a:srgbClr val="000000">
                <a:alpha val="10000"/>
              </a:srgbClr>
            </a:outerShdw>
          </a:effectLst>
        </p:spPr>
      </p:sp>
      <p:sp>
        <p:nvSpPr>
          <p:cNvPr id="7" name="Text 5"/>
          <p:cNvSpPr/>
          <p:nvPr/>
        </p:nvSpPr>
        <p:spPr>
          <a:xfrm>
            <a:off x="3657600" y="1463040"/>
            <a:ext cx="201168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React State</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App Runtime</a:t>
            </a:r>
            <a:endParaRPr lang="en-US" sz="1600" dirty="0"/>
          </a:p>
        </p:txBody>
      </p:sp>
      <p:sp>
        <p:nvSpPr>
          <p:cNvPr id="8" name="Shape 6"/>
          <p:cNvSpPr/>
          <p:nvPr/>
        </p:nvSpPr>
        <p:spPr>
          <a:xfrm>
            <a:off x="5760720" y="2011680"/>
            <a:ext cx="548640" cy="0"/>
          </a:xfrm>
          <a:prstGeom prst="line">
            <a:avLst/>
          </a:prstGeom>
          <a:noFill/>
          <a:ln w="25400">
            <a:solidFill>
              <a:srgbClr val="8896A5"/>
            </a:solidFill>
            <a:prstDash val="solid"/>
          </a:ln>
        </p:spPr>
      </p:sp>
      <p:sp>
        <p:nvSpPr>
          <p:cNvPr id="9" name="Shape 7"/>
          <p:cNvSpPr/>
          <p:nvPr/>
        </p:nvSpPr>
        <p:spPr>
          <a:xfrm>
            <a:off x="6400800" y="1463040"/>
            <a:ext cx="2286000" cy="1097280"/>
          </a:xfrm>
          <a:prstGeom prst="rect">
            <a:avLst/>
          </a:prstGeom>
          <a:solidFill>
            <a:srgbClr val="00A896"/>
          </a:solidFill>
          <a:ln/>
          <a:effectLst>
            <a:outerShdw sx="100000" sy="100000" kx="0" ky="0" algn="bl" rotWithShape="0" blurRad="76200" dist="25400" dir="8100000">
              <a:srgbClr val="000000">
                <a:alpha val="10000"/>
              </a:srgbClr>
            </a:outerShdw>
          </a:effectLst>
        </p:spPr>
      </p:sp>
      <p:sp>
        <p:nvSpPr>
          <p:cNvPr id="10" name="Text 8"/>
          <p:cNvSpPr/>
          <p:nvPr/>
        </p:nvSpPr>
        <p:spPr>
          <a:xfrm>
            <a:off x="6400800" y="1463040"/>
            <a:ext cx="228600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Firebase</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Cloud Sync</a:t>
            </a:r>
            <a:endParaRPr lang="en-US" sz="1600" dirty="0"/>
          </a:p>
        </p:txBody>
      </p:sp>
      <p:sp>
        <p:nvSpPr>
          <p:cNvPr id="11" name="Shape 9"/>
          <p:cNvSpPr/>
          <p:nvPr/>
        </p:nvSpPr>
        <p:spPr>
          <a:xfrm>
            <a:off x="1371600" y="2999232"/>
            <a:ext cx="109728" cy="109728"/>
          </a:xfrm>
          <a:prstGeom prst="rect">
            <a:avLst/>
          </a:prstGeom>
          <a:solidFill>
            <a:srgbClr val="028090"/>
          </a:solidFill>
          <a:ln/>
        </p:spPr>
      </p:sp>
      <p:sp>
        <p:nvSpPr>
          <p:cNvPr id="12" name="Text 10"/>
          <p:cNvSpPr/>
          <p:nvPr/>
        </p:nvSpPr>
        <p:spPr>
          <a:xfrm>
            <a:off x="1645920" y="2926080"/>
            <a:ext cx="1828800" cy="32004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Offline-First</a:t>
            </a:r>
            <a:endParaRPr lang="en-US" sz="1300" dirty="0"/>
          </a:p>
        </p:txBody>
      </p:sp>
      <p:sp>
        <p:nvSpPr>
          <p:cNvPr id="13" name="Text 11"/>
          <p:cNvSpPr/>
          <p:nvPr/>
        </p:nvSpPr>
        <p:spPr>
          <a:xfrm>
            <a:off x="3474720" y="292608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App works fully without internet — localStorage handles everything</a:t>
            </a:r>
            <a:endParaRPr lang="en-US" sz="1200" dirty="0"/>
          </a:p>
        </p:txBody>
      </p:sp>
      <p:sp>
        <p:nvSpPr>
          <p:cNvPr id="14" name="Shape 12"/>
          <p:cNvSpPr/>
          <p:nvPr/>
        </p:nvSpPr>
        <p:spPr>
          <a:xfrm>
            <a:off x="1371600" y="3502152"/>
            <a:ext cx="109728" cy="109728"/>
          </a:xfrm>
          <a:prstGeom prst="rect">
            <a:avLst/>
          </a:prstGeom>
          <a:solidFill>
            <a:srgbClr val="00A896"/>
          </a:solidFill>
          <a:ln/>
        </p:spPr>
      </p:sp>
      <p:sp>
        <p:nvSpPr>
          <p:cNvPr id="15" name="Text 13"/>
          <p:cNvSpPr/>
          <p:nvPr/>
        </p:nvSpPr>
        <p:spPr>
          <a:xfrm>
            <a:off x="1645920" y="3429000"/>
            <a:ext cx="1828800" cy="32004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Debounced Saves</a:t>
            </a:r>
            <a:endParaRPr lang="en-US" sz="1300" dirty="0"/>
          </a:p>
        </p:txBody>
      </p:sp>
      <p:sp>
        <p:nvSpPr>
          <p:cNvPr id="16" name="Text 14"/>
          <p:cNvSpPr/>
          <p:nvPr/>
        </p:nvSpPr>
        <p:spPr>
          <a:xfrm>
            <a:off x="3474720" y="342900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500ms debounce prevents excessive writes to Firebase (saves cost!)</a:t>
            </a:r>
            <a:endParaRPr lang="en-US" sz="1200" dirty="0"/>
          </a:p>
        </p:txBody>
      </p:sp>
      <p:sp>
        <p:nvSpPr>
          <p:cNvPr id="17" name="Shape 15"/>
          <p:cNvSpPr/>
          <p:nvPr/>
        </p:nvSpPr>
        <p:spPr>
          <a:xfrm>
            <a:off x="1371600" y="4005072"/>
            <a:ext cx="109728" cy="109728"/>
          </a:xfrm>
          <a:prstGeom prst="rect">
            <a:avLst/>
          </a:prstGeom>
          <a:solidFill>
            <a:srgbClr val="028090"/>
          </a:solidFill>
          <a:ln/>
        </p:spPr>
      </p:sp>
      <p:sp>
        <p:nvSpPr>
          <p:cNvPr id="18" name="Text 16"/>
          <p:cNvSpPr/>
          <p:nvPr/>
        </p:nvSpPr>
        <p:spPr>
          <a:xfrm>
            <a:off x="1645920" y="3931920"/>
            <a:ext cx="1828800" cy="32004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Auto-Backup</a:t>
            </a:r>
            <a:endParaRPr lang="en-US" sz="1300" dirty="0"/>
          </a:p>
        </p:txBody>
      </p:sp>
      <p:sp>
        <p:nvSpPr>
          <p:cNvPr id="19" name="Text 17"/>
          <p:cNvSpPr/>
          <p:nvPr/>
        </p:nvSpPr>
        <p:spPr>
          <a:xfrm>
            <a:off x="3474720" y="393192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Every Firebase save also writes to localStorage as backup</a:t>
            </a:r>
            <a:endParaRPr lang="en-US" sz="1200" dirty="0"/>
          </a:p>
        </p:txBody>
      </p:sp>
      <p:sp>
        <p:nvSpPr>
          <p:cNvPr id="20" name="Shape 18"/>
          <p:cNvSpPr/>
          <p:nvPr/>
        </p:nvSpPr>
        <p:spPr>
          <a:xfrm>
            <a:off x="1371600" y="4507992"/>
            <a:ext cx="109728" cy="109728"/>
          </a:xfrm>
          <a:prstGeom prst="rect">
            <a:avLst/>
          </a:prstGeom>
          <a:solidFill>
            <a:srgbClr val="00A896"/>
          </a:solidFill>
          <a:ln/>
        </p:spPr>
      </p:sp>
      <p:sp>
        <p:nvSpPr>
          <p:cNvPr id="21" name="Text 19"/>
          <p:cNvSpPr/>
          <p:nvPr/>
        </p:nvSpPr>
        <p:spPr>
          <a:xfrm>
            <a:off x="1645920" y="4434840"/>
            <a:ext cx="1828800" cy="32004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Graceful Degradation</a:t>
            </a:r>
            <a:endParaRPr lang="en-US" sz="1300" dirty="0"/>
          </a:p>
        </p:txBody>
      </p:sp>
      <p:sp>
        <p:nvSpPr>
          <p:cNvPr id="22" name="Text 20"/>
          <p:cNvSpPr/>
          <p:nvPr/>
        </p:nvSpPr>
        <p:spPr>
          <a:xfrm>
            <a:off x="3474720" y="443484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If Firebase goes down, app keeps working with local data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OCR Invoice Scanning</a:t>
            </a:r>
            <a:endParaRPr lang="en-US" sz="3600" dirty="0"/>
          </a:p>
        </p:txBody>
      </p:sp>
      <p:pic>
        <p:nvPicPr>
          <p:cNvPr id="3" name="Image 0" descr="preencoded.png">    </p:cNvPr>
          <p:cNvPicPr>
            <a:picLocks noChangeAspect="1"/>
          </p:cNvPicPr>
          <p:nvPr/>
        </p:nvPicPr>
        <p:blipFill>
          <a:blip r:embed="rId1"/>
          <a:stretch>
            <a:fillRect/>
          </a:stretch>
        </p:blipFill>
        <p:spPr>
          <a:xfrm>
            <a:off x="7772400" y="320040"/>
            <a:ext cx="731520" cy="731520"/>
          </a:xfrm>
          <a:prstGeom prst="rect">
            <a:avLst/>
          </a:prstGeom>
        </p:spPr>
      </p:pic>
      <p:sp>
        <p:nvSpPr>
          <p:cNvPr id="4" name="Shape 1"/>
          <p:cNvSpPr/>
          <p:nvPr/>
        </p:nvSpPr>
        <p:spPr>
          <a:xfrm>
            <a:off x="731520" y="1417320"/>
            <a:ext cx="411480" cy="411480"/>
          </a:xfrm>
          <a:prstGeom prst="ellipse">
            <a:avLst/>
          </a:prstGeom>
          <a:solidFill>
            <a:srgbClr val="028090"/>
          </a:solidFill>
          <a:ln/>
        </p:spPr>
      </p:sp>
      <p:sp>
        <p:nvSpPr>
          <p:cNvPr id="5" name="Text 2"/>
          <p:cNvSpPr/>
          <p:nvPr/>
        </p:nvSpPr>
        <p:spPr>
          <a:xfrm>
            <a:off x="73152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6" name="Shape 3"/>
          <p:cNvSpPr/>
          <p:nvPr/>
        </p:nvSpPr>
        <p:spPr>
          <a:xfrm>
            <a:off x="937260" y="1828800"/>
            <a:ext cx="0" cy="155448"/>
          </a:xfrm>
          <a:prstGeom prst="line">
            <a:avLst/>
          </a:prstGeom>
          <a:noFill/>
          <a:ln w="25400">
            <a:solidFill>
              <a:srgbClr val="E8F0EE"/>
            </a:solidFill>
            <a:prstDash val="solid"/>
          </a:ln>
        </p:spPr>
      </p:sp>
      <p:sp>
        <p:nvSpPr>
          <p:cNvPr id="7" name="Text 4"/>
          <p:cNvSpPr/>
          <p:nvPr/>
        </p:nvSpPr>
        <p:spPr>
          <a:xfrm>
            <a:off x="1371600" y="1371600"/>
            <a:ext cx="2011680" cy="45720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Upload Image</a:t>
            </a:r>
            <a:endParaRPr lang="en-US" sz="1500" dirty="0"/>
          </a:p>
        </p:txBody>
      </p:sp>
      <p:sp>
        <p:nvSpPr>
          <p:cNvPr id="8" name="Text 5"/>
          <p:cNvSpPr/>
          <p:nvPr/>
        </p:nvSpPr>
        <p:spPr>
          <a:xfrm>
            <a:off x="3383280" y="1371600"/>
            <a:ext cx="52120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User takes a photo or uploads a receipt file</a:t>
            </a:r>
            <a:endParaRPr lang="en-US" sz="1300" dirty="0"/>
          </a:p>
        </p:txBody>
      </p:sp>
      <p:sp>
        <p:nvSpPr>
          <p:cNvPr id="9" name="Shape 6"/>
          <p:cNvSpPr/>
          <p:nvPr/>
        </p:nvSpPr>
        <p:spPr>
          <a:xfrm>
            <a:off x="731520" y="1984248"/>
            <a:ext cx="411480" cy="411480"/>
          </a:xfrm>
          <a:prstGeom prst="ellipse">
            <a:avLst/>
          </a:prstGeom>
          <a:solidFill>
            <a:srgbClr val="00A896"/>
          </a:solidFill>
          <a:ln/>
        </p:spPr>
      </p:sp>
      <p:sp>
        <p:nvSpPr>
          <p:cNvPr id="10" name="Text 7"/>
          <p:cNvSpPr/>
          <p:nvPr/>
        </p:nvSpPr>
        <p:spPr>
          <a:xfrm>
            <a:off x="731520" y="198424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1" name="Shape 8"/>
          <p:cNvSpPr/>
          <p:nvPr/>
        </p:nvSpPr>
        <p:spPr>
          <a:xfrm>
            <a:off x="937260" y="2395728"/>
            <a:ext cx="0" cy="155448"/>
          </a:xfrm>
          <a:prstGeom prst="line">
            <a:avLst/>
          </a:prstGeom>
          <a:noFill/>
          <a:ln w="25400">
            <a:solidFill>
              <a:srgbClr val="E8F0EE"/>
            </a:solidFill>
            <a:prstDash val="solid"/>
          </a:ln>
        </p:spPr>
      </p:sp>
      <p:sp>
        <p:nvSpPr>
          <p:cNvPr id="12" name="Text 9"/>
          <p:cNvSpPr/>
          <p:nvPr/>
        </p:nvSpPr>
        <p:spPr>
          <a:xfrm>
            <a:off x="1371600" y="1938528"/>
            <a:ext cx="2011680" cy="45720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Preprocess</a:t>
            </a:r>
            <a:endParaRPr lang="en-US" sz="1500" dirty="0"/>
          </a:p>
        </p:txBody>
      </p:sp>
      <p:sp>
        <p:nvSpPr>
          <p:cNvPr id="13" name="Text 10"/>
          <p:cNvSpPr/>
          <p:nvPr/>
        </p:nvSpPr>
        <p:spPr>
          <a:xfrm>
            <a:off x="3383280" y="1938528"/>
            <a:ext cx="52120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2x upscale, grayscale, contrast boost, binarize</a:t>
            </a:r>
            <a:endParaRPr lang="en-US" sz="1300" dirty="0"/>
          </a:p>
        </p:txBody>
      </p:sp>
      <p:sp>
        <p:nvSpPr>
          <p:cNvPr id="14" name="Shape 11"/>
          <p:cNvSpPr/>
          <p:nvPr/>
        </p:nvSpPr>
        <p:spPr>
          <a:xfrm>
            <a:off x="731520" y="2551176"/>
            <a:ext cx="411480" cy="411480"/>
          </a:xfrm>
          <a:prstGeom prst="ellipse">
            <a:avLst/>
          </a:prstGeom>
          <a:solidFill>
            <a:srgbClr val="028090"/>
          </a:solidFill>
          <a:ln/>
        </p:spPr>
      </p:sp>
      <p:sp>
        <p:nvSpPr>
          <p:cNvPr id="15" name="Text 12"/>
          <p:cNvSpPr/>
          <p:nvPr/>
        </p:nvSpPr>
        <p:spPr>
          <a:xfrm>
            <a:off x="731520" y="255117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6" name="Shape 13"/>
          <p:cNvSpPr/>
          <p:nvPr/>
        </p:nvSpPr>
        <p:spPr>
          <a:xfrm>
            <a:off x="937260" y="2962656"/>
            <a:ext cx="0" cy="155448"/>
          </a:xfrm>
          <a:prstGeom prst="line">
            <a:avLst/>
          </a:prstGeom>
          <a:noFill/>
          <a:ln w="25400">
            <a:solidFill>
              <a:srgbClr val="E8F0EE"/>
            </a:solidFill>
            <a:prstDash val="solid"/>
          </a:ln>
        </p:spPr>
      </p:sp>
      <p:sp>
        <p:nvSpPr>
          <p:cNvPr id="17" name="Text 14"/>
          <p:cNvSpPr/>
          <p:nvPr/>
        </p:nvSpPr>
        <p:spPr>
          <a:xfrm>
            <a:off x="1371600" y="2505456"/>
            <a:ext cx="2011680" cy="45720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OCR Extract</a:t>
            </a:r>
            <a:endParaRPr lang="en-US" sz="1500" dirty="0"/>
          </a:p>
        </p:txBody>
      </p:sp>
      <p:sp>
        <p:nvSpPr>
          <p:cNvPr id="18" name="Text 15"/>
          <p:cNvSpPr/>
          <p:nvPr/>
        </p:nvSpPr>
        <p:spPr>
          <a:xfrm>
            <a:off x="3383280" y="2505456"/>
            <a:ext cx="52120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Tesseract.js recognizes text from the image</a:t>
            </a:r>
            <a:endParaRPr lang="en-US" sz="1300" dirty="0"/>
          </a:p>
        </p:txBody>
      </p:sp>
      <p:sp>
        <p:nvSpPr>
          <p:cNvPr id="19" name="Shape 16"/>
          <p:cNvSpPr/>
          <p:nvPr/>
        </p:nvSpPr>
        <p:spPr>
          <a:xfrm>
            <a:off x="731520" y="3118104"/>
            <a:ext cx="411480" cy="411480"/>
          </a:xfrm>
          <a:prstGeom prst="ellipse">
            <a:avLst/>
          </a:prstGeom>
          <a:solidFill>
            <a:srgbClr val="00A896"/>
          </a:solidFill>
          <a:ln/>
        </p:spPr>
      </p:sp>
      <p:sp>
        <p:nvSpPr>
          <p:cNvPr id="20" name="Text 17"/>
          <p:cNvSpPr/>
          <p:nvPr/>
        </p:nvSpPr>
        <p:spPr>
          <a:xfrm>
            <a:off x="731520" y="311810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1" name="Shape 18"/>
          <p:cNvSpPr/>
          <p:nvPr/>
        </p:nvSpPr>
        <p:spPr>
          <a:xfrm>
            <a:off x="937260" y="3529584"/>
            <a:ext cx="0" cy="155448"/>
          </a:xfrm>
          <a:prstGeom prst="line">
            <a:avLst/>
          </a:prstGeom>
          <a:noFill/>
          <a:ln w="25400">
            <a:solidFill>
              <a:srgbClr val="E8F0EE"/>
            </a:solidFill>
            <a:prstDash val="solid"/>
          </a:ln>
        </p:spPr>
      </p:sp>
      <p:sp>
        <p:nvSpPr>
          <p:cNvPr id="22" name="Text 19"/>
          <p:cNvSpPr/>
          <p:nvPr/>
        </p:nvSpPr>
        <p:spPr>
          <a:xfrm>
            <a:off x="1371600" y="3072384"/>
            <a:ext cx="2011680" cy="45720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Smart Parse</a:t>
            </a:r>
            <a:endParaRPr lang="en-US" sz="1500" dirty="0"/>
          </a:p>
        </p:txBody>
      </p:sp>
      <p:sp>
        <p:nvSpPr>
          <p:cNvPr id="23" name="Text 20"/>
          <p:cNvSpPr/>
          <p:nvPr/>
        </p:nvSpPr>
        <p:spPr>
          <a:xfrm>
            <a:off x="3383280" y="3072384"/>
            <a:ext cx="52120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Thai keyword detection finds product table boundaries</a:t>
            </a:r>
            <a:endParaRPr lang="en-US" sz="1300" dirty="0"/>
          </a:p>
        </p:txBody>
      </p:sp>
      <p:sp>
        <p:nvSpPr>
          <p:cNvPr id="24" name="Shape 21"/>
          <p:cNvSpPr/>
          <p:nvPr/>
        </p:nvSpPr>
        <p:spPr>
          <a:xfrm>
            <a:off x="731520" y="3685032"/>
            <a:ext cx="411480" cy="411480"/>
          </a:xfrm>
          <a:prstGeom prst="ellipse">
            <a:avLst/>
          </a:prstGeom>
          <a:solidFill>
            <a:srgbClr val="028090"/>
          </a:solidFill>
          <a:ln/>
        </p:spPr>
      </p:sp>
      <p:sp>
        <p:nvSpPr>
          <p:cNvPr id="25" name="Text 22"/>
          <p:cNvSpPr/>
          <p:nvPr/>
        </p:nvSpPr>
        <p:spPr>
          <a:xfrm>
            <a:off x="731520" y="368503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5</a:t>
            </a:r>
            <a:endParaRPr lang="en-US" sz="1600" dirty="0"/>
          </a:p>
        </p:txBody>
      </p:sp>
      <p:sp>
        <p:nvSpPr>
          <p:cNvPr id="26" name="Shape 23"/>
          <p:cNvSpPr/>
          <p:nvPr/>
        </p:nvSpPr>
        <p:spPr>
          <a:xfrm>
            <a:off x="937260" y="4096512"/>
            <a:ext cx="0" cy="155448"/>
          </a:xfrm>
          <a:prstGeom prst="line">
            <a:avLst/>
          </a:prstGeom>
          <a:noFill/>
          <a:ln w="25400">
            <a:solidFill>
              <a:srgbClr val="E8F0EE"/>
            </a:solidFill>
            <a:prstDash val="solid"/>
          </a:ln>
        </p:spPr>
      </p:sp>
      <p:sp>
        <p:nvSpPr>
          <p:cNvPr id="27" name="Text 24"/>
          <p:cNvSpPr/>
          <p:nvPr/>
        </p:nvSpPr>
        <p:spPr>
          <a:xfrm>
            <a:off x="1371600" y="3639312"/>
            <a:ext cx="2011680" cy="45720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Extract Items</a:t>
            </a:r>
            <a:endParaRPr lang="en-US" sz="1500" dirty="0"/>
          </a:p>
        </p:txBody>
      </p:sp>
      <p:sp>
        <p:nvSpPr>
          <p:cNvPr id="28" name="Text 25"/>
          <p:cNvSpPr/>
          <p:nvPr/>
        </p:nvSpPr>
        <p:spPr>
          <a:xfrm>
            <a:off x="3383280" y="3639312"/>
            <a:ext cx="52120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Regex + heuristics pull item names and prices</a:t>
            </a:r>
            <a:endParaRPr lang="en-US" sz="1300" dirty="0"/>
          </a:p>
        </p:txBody>
      </p:sp>
      <p:sp>
        <p:nvSpPr>
          <p:cNvPr id="29" name="Shape 26"/>
          <p:cNvSpPr/>
          <p:nvPr/>
        </p:nvSpPr>
        <p:spPr>
          <a:xfrm>
            <a:off x="731520" y="4251960"/>
            <a:ext cx="411480" cy="411480"/>
          </a:xfrm>
          <a:prstGeom prst="ellipse">
            <a:avLst/>
          </a:prstGeom>
          <a:solidFill>
            <a:srgbClr val="02C39A"/>
          </a:solidFill>
          <a:ln/>
        </p:spPr>
      </p:sp>
      <p:sp>
        <p:nvSpPr>
          <p:cNvPr id="30" name="Text 27"/>
          <p:cNvSpPr/>
          <p:nvPr/>
        </p:nvSpPr>
        <p:spPr>
          <a:xfrm>
            <a:off x="731520" y="4251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6</a:t>
            </a:r>
            <a:endParaRPr lang="en-US" sz="1600" dirty="0"/>
          </a:p>
        </p:txBody>
      </p:sp>
      <p:sp>
        <p:nvSpPr>
          <p:cNvPr id="31" name="Text 28"/>
          <p:cNvSpPr/>
          <p:nvPr/>
        </p:nvSpPr>
        <p:spPr>
          <a:xfrm>
            <a:off x="1371600" y="4206240"/>
            <a:ext cx="2011680" cy="457200"/>
          </a:xfrm>
          <a:prstGeom prst="rect">
            <a:avLst/>
          </a:prstGeom>
          <a:noFill/>
          <a:ln/>
        </p:spPr>
        <p:txBody>
          <a:bodyPr wrap="square" lIns="0" tIns="0" rIns="0" bIns="0" rtlCol="0" anchor="ctr"/>
          <a:lstStyle/>
          <a:p>
            <a:pPr indent="0" marL="0">
              <a:buNone/>
            </a:pPr>
            <a:r>
              <a:rPr lang="en-US" sz="1500" b="1" dirty="0">
                <a:solidFill>
                  <a:srgbClr val="1A2332"/>
                </a:solidFill>
                <a:latin typeface="Trebuchet MS" pitchFamily="34" charset="0"/>
                <a:ea typeface="Trebuchet MS" pitchFamily="34" charset="-122"/>
                <a:cs typeface="Trebuchet MS" pitchFamily="34" charset="-120"/>
              </a:rPr>
              <a:t>Create Bills</a:t>
            </a:r>
            <a:endParaRPr lang="en-US" sz="1500" dirty="0"/>
          </a:p>
        </p:txBody>
      </p:sp>
      <p:sp>
        <p:nvSpPr>
          <p:cNvPr id="32" name="Text 29"/>
          <p:cNvSpPr/>
          <p:nvPr/>
        </p:nvSpPr>
        <p:spPr>
          <a:xfrm>
            <a:off x="3383280" y="4206240"/>
            <a:ext cx="52120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Parsed items become trackable bills</a:t>
            </a:r>
            <a:endParaRPr lang="en-US" sz="1300" dirty="0"/>
          </a:p>
        </p:txBody>
      </p:sp>
      <p:sp>
        <p:nvSpPr>
          <p:cNvPr id="33" name="Shape 30"/>
          <p:cNvSpPr/>
          <p:nvPr/>
        </p:nvSpPr>
        <p:spPr>
          <a:xfrm>
            <a:off x="640080" y="4572000"/>
            <a:ext cx="7863840" cy="365760"/>
          </a:xfrm>
          <a:prstGeom prst="rect">
            <a:avLst/>
          </a:prstGeom>
          <a:solidFill>
            <a:srgbClr val="028090">
              <a:alpha val="10000"/>
            </a:srgbClr>
          </a:solidFill>
          <a:ln/>
        </p:spPr>
      </p:sp>
      <p:sp>
        <p:nvSpPr>
          <p:cNvPr id="34" name="Text 31"/>
          <p:cNvSpPr/>
          <p:nvPr/>
        </p:nvSpPr>
        <p:spPr>
          <a:xfrm>
            <a:off x="640080" y="4572000"/>
            <a:ext cx="7863840" cy="365760"/>
          </a:xfrm>
          <a:prstGeom prst="rect">
            <a:avLst/>
          </a:prstGeom>
          <a:noFill/>
          <a:ln/>
        </p:spPr>
        <p:txBody>
          <a:bodyPr wrap="square" lIns="0" tIns="0" rIns="0" bIns="0" rtlCol="0" anchor="ctr"/>
          <a:lstStyle/>
          <a:p>
            <a:pPr algn="ctr" indent="0" marL="0">
              <a:buNone/>
            </a:pPr>
            <a:r>
              <a:rPr lang="en-US" sz="1200" i="1" dirty="0">
                <a:solidFill>
                  <a:srgbClr val="028090"/>
                </a:solidFill>
                <a:latin typeface="Calibri" pitchFamily="34" charset="0"/>
                <a:ea typeface="Calibri" pitchFamily="34" charset="-122"/>
                <a:cs typeface="Calibri" pitchFamily="34" charset="-120"/>
              </a:rPr>
              <a:t>Optimized for Thai invoices — handles ฿ currency, Thai keywords, and local formatting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45720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Slack Notifications</a:t>
            </a:r>
            <a:endParaRPr lang="en-US" sz="3600" dirty="0"/>
          </a:p>
        </p:txBody>
      </p:sp>
      <p:pic>
        <p:nvPicPr>
          <p:cNvPr id="3" name="Image 0" descr="preencoded.png">    </p:cNvPr>
          <p:cNvPicPr>
            <a:picLocks noChangeAspect="1"/>
          </p:cNvPicPr>
          <p:nvPr/>
        </p:nvPicPr>
        <p:blipFill>
          <a:blip r:embed="rId1"/>
          <a:stretch>
            <a:fillRect/>
          </a:stretch>
        </p:blipFill>
        <p:spPr>
          <a:xfrm>
            <a:off x="7772400" y="320040"/>
            <a:ext cx="731520" cy="731520"/>
          </a:xfrm>
          <a:prstGeom prst="rect">
            <a:avLst/>
          </a:prstGeom>
        </p:spPr>
      </p:pic>
      <p:sp>
        <p:nvSpPr>
          <p:cNvPr id="4" name="Shape 1"/>
          <p:cNvSpPr/>
          <p:nvPr/>
        </p:nvSpPr>
        <p:spPr>
          <a:xfrm>
            <a:off x="640080" y="1371600"/>
            <a:ext cx="3840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5" name="Shape 2"/>
          <p:cNvSpPr/>
          <p:nvPr/>
        </p:nvSpPr>
        <p:spPr>
          <a:xfrm>
            <a:off x="640080" y="1371600"/>
            <a:ext cx="54864" cy="3200400"/>
          </a:xfrm>
          <a:prstGeom prst="rect">
            <a:avLst/>
          </a:prstGeom>
          <a:solidFill>
            <a:srgbClr val="02C39A"/>
          </a:solidFill>
          <a:ln/>
        </p:spPr>
      </p:sp>
      <p:sp>
        <p:nvSpPr>
          <p:cNvPr id="6" name="Text 3"/>
          <p:cNvSpPr/>
          <p:nvPr/>
        </p:nvSpPr>
        <p:spPr>
          <a:xfrm>
            <a:off x="914400" y="1463040"/>
            <a:ext cx="3383280" cy="411480"/>
          </a:xfrm>
          <a:prstGeom prst="rect">
            <a:avLst/>
          </a:prstGeom>
          <a:noFill/>
          <a:ln/>
        </p:spPr>
        <p:txBody>
          <a:bodyPr wrap="square" lIns="0" tIns="0" rIns="0" bIns="0" rtlCol="0" anchor="ctr"/>
          <a:lstStyle/>
          <a:p>
            <a:pPr indent="0" marL="0">
              <a:buNone/>
            </a:pPr>
            <a:r>
              <a:rPr lang="en-US" sz="1600" b="1" dirty="0">
                <a:solidFill>
                  <a:srgbClr val="02C39A"/>
                </a:solidFill>
                <a:latin typeface="Trebuchet MS" pitchFamily="34" charset="0"/>
                <a:ea typeface="Trebuchet MS" pitchFamily="34" charset="-122"/>
                <a:cs typeface="Trebuchet MS" pitchFamily="34" charset="-120"/>
              </a:rPr>
              <a:t>How It Works</a:t>
            </a:r>
            <a:endParaRPr lang="en-US" sz="1600" dirty="0"/>
          </a:p>
        </p:txBody>
      </p:sp>
      <p:sp>
        <p:nvSpPr>
          <p:cNvPr id="7" name="Text 4"/>
          <p:cNvSpPr/>
          <p:nvPr/>
        </p:nvSpPr>
        <p:spPr>
          <a:xfrm>
            <a:off x="914400" y="2011680"/>
            <a:ext cx="3383280" cy="2286000"/>
          </a:xfrm>
          <a:prstGeom prst="rect">
            <a:avLst/>
          </a:prstGeom>
          <a:noFill/>
          <a:ln/>
        </p:spPr>
        <p:txBody>
          <a:bodyPr wrap="square" lIns="0" tIns="0" rIns="0" bIns="0" rtlCol="0" anchor="ctr"/>
          <a:lstStyle/>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Configure a Slack incoming webhook</a:t>
            </a:r>
            <a:endParaRPr lang="en-US" sz="1300" dirty="0"/>
          </a:p>
          <a:p>
            <a:pPr indent="0" marL="0">
              <a:buNone/>
            </a:pP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App checks all dogs &amp; bills daily</a:t>
            </a:r>
            <a:endParaRPr lang="en-US" sz="1300" dirty="0"/>
          </a:p>
          <a:p>
            <a:pPr indent="0" marL="0">
              <a:buNone/>
            </a:pP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Sends alerts only when items are</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  overdue or coming up soon</a:t>
            </a:r>
            <a:endParaRPr lang="en-US" sz="1300" dirty="0"/>
          </a:p>
          <a:p>
            <a:pPr indent="0" marL="0">
              <a:buNone/>
            </a:pP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Uses Slack Block Kit for rich</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  formatting with headers &amp; sections</a:t>
            </a:r>
            <a:endParaRPr lang="en-US" sz="1300" dirty="0"/>
          </a:p>
        </p:txBody>
      </p:sp>
      <p:sp>
        <p:nvSpPr>
          <p:cNvPr id="8" name="Shape 5"/>
          <p:cNvSpPr/>
          <p:nvPr/>
        </p:nvSpPr>
        <p:spPr>
          <a:xfrm>
            <a:off x="4754880" y="1371600"/>
            <a:ext cx="3840480" cy="3200400"/>
          </a:xfrm>
          <a:prstGeom prst="rect">
            <a:avLst/>
          </a:prstGeom>
          <a:solidFill>
            <a:srgbClr val="1A1D21"/>
          </a:solidFill>
          <a:ln/>
          <a:effectLst>
            <a:outerShdw sx="100000" sy="100000" kx="0" ky="0" algn="bl" rotWithShape="0" blurRad="76200" dist="25400" dir="8100000">
              <a:srgbClr val="000000">
                <a:alpha val="10000"/>
              </a:srgbClr>
            </a:outerShdw>
          </a:effectLst>
        </p:spPr>
      </p:sp>
      <p:sp>
        <p:nvSpPr>
          <p:cNvPr id="9" name="Text 6"/>
          <p:cNvSpPr/>
          <p:nvPr/>
        </p:nvSpPr>
        <p:spPr>
          <a:xfrm>
            <a:off x="5029200" y="1463040"/>
            <a:ext cx="3291840" cy="365760"/>
          </a:xfrm>
          <a:prstGeom prst="rect">
            <a:avLst/>
          </a:prstGeom>
          <a:noFill/>
          <a:ln/>
        </p:spPr>
        <p:txBody>
          <a:bodyPr wrap="square" lIns="0" tIns="0" rIns="0" bIns="0" rtlCol="0" anchor="ctr"/>
          <a:lstStyle/>
          <a:p>
            <a:pPr indent="0" marL="0">
              <a:buNone/>
            </a:pPr>
            <a:r>
              <a:rPr lang="en-US" sz="1400" b="1" dirty="0">
                <a:solidFill>
                  <a:srgbClr val="D1D2D3"/>
                </a:solidFill>
                <a:latin typeface="Calibri" pitchFamily="34" charset="0"/>
                <a:ea typeface="Calibri" pitchFamily="34" charset="-122"/>
                <a:cs typeface="Calibri" pitchFamily="34" charset="-120"/>
              </a:rPr>
              <a:t># dog-care</a:t>
            </a:r>
            <a:endParaRPr lang="en-US" sz="1400" dirty="0"/>
          </a:p>
        </p:txBody>
      </p:sp>
      <p:sp>
        <p:nvSpPr>
          <p:cNvPr id="10" name="Shape 7"/>
          <p:cNvSpPr/>
          <p:nvPr/>
        </p:nvSpPr>
        <p:spPr>
          <a:xfrm>
            <a:off x="5029200" y="1920240"/>
            <a:ext cx="3291840" cy="2377440"/>
          </a:xfrm>
          <a:prstGeom prst="rect">
            <a:avLst/>
          </a:prstGeom>
          <a:solidFill>
            <a:srgbClr val="222529"/>
          </a:solidFill>
          <a:ln/>
        </p:spPr>
      </p:sp>
      <p:sp>
        <p:nvSpPr>
          <p:cNvPr id="11" name="Shape 8"/>
          <p:cNvSpPr/>
          <p:nvPr/>
        </p:nvSpPr>
        <p:spPr>
          <a:xfrm>
            <a:off x="5029200" y="1920240"/>
            <a:ext cx="54864" cy="2377440"/>
          </a:xfrm>
          <a:prstGeom prst="rect">
            <a:avLst/>
          </a:prstGeom>
          <a:solidFill>
            <a:srgbClr val="02C39A"/>
          </a:solidFill>
          <a:ln/>
        </p:spPr>
      </p:sp>
      <p:sp>
        <p:nvSpPr>
          <p:cNvPr id="12" name="Text 9"/>
          <p:cNvSpPr/>
          <p:nvPr/>
        </p:nvSpPr>
        <p:spPr>
          <a:xfrm>
            <a:off x="5303520" y="2011680"/>
            <a:ext cx="3017520" cy="2194560"/>
          </a:xfrm>
          <a:prstGeom prst="rect">
            <a:avLst/>
          </a:prstGeom>
          <a:noFill/>
          <a:ln/>
        </p:spPr>
        <p:txBody>
          <a:bodyPr wrap="square" lIns="0" tIns="0" rIns="0" bIns="0" rtlCol="0" anchor="ctr"/>
          <a:lstStyle/>
          <a:p>
            <a:pPr indent="0" marL="0">
              <a:buNone/>
            </a:pPr>
            <a:r>
              <a:rPr lang="en-US" sz="1400" b="1" dirty="0">
                <a:solidFill>
                  <a:srgbClr val="E8E8E8"/>
                </a:solidFill>
                <a:latin typeface="Calibri" pitchFamily="34" charset="0"/>
                <a:ea typeface="Calibri" pitchFamily="34" charset="-122"/>
                <a:cs typeface="Calibri" pitchFamily="34" charset="-120"/>
              </a:rPr>
              <a:t>Dog Medication Alert</a:t>
            </a:r>
            <a:endParaRPr lang="en-US" sz="1400" dirty="0"/>
          </a:p>
          <a:p>
            <a:pPr indent="0" marL="0">
              <a:buNone/>
            </a:pPr>
            <a:endParaRPr lang="en-US" sz="1400" dirty="0"/>
          </a:p>
          <a:p>
            <a:pPr indent="0" marL="0">
              <a:buNone/>
            </a:pPr>
            <a:r>
              <a:rPr lang="en-US" sz="1200" b="1" dirty="0">
                <a:solidFill>
                  <a:srgbClr val="D1D2D3"/>
                </a:solidFill>
                <a:latin typeface="Calibri" pitchFamily="34" charset="0"/>
                <a:ea typeface="Calibri" pitchFamily="34" charset="-122"/>
                <a:cs typeface="Calibri" pitchFamily="34" charset="-120"/>
              </a:rPr>
              <a:t>Buddy — Nexgard</a:t>
            </a:r>
            <a:endParaRPr lang="en-US" sz="1400" dirty="0"/>
          </a:p>
          <a:p>
            <a:pPr indent="0" marL="0">
              <a:buNone/>
            </a:pPr>
            <a:r>
              <a:rPr lang="en-US" sz="1200" dirty="0">
                <a:solidFill>
                  <a:srgbClr val="F96167"/>
                </a:solidFill>
                <a:latin typeface="Calibri" pitchFamily="34" charset="0"/>
                <a:ea typeface="Calibri" pitchFamily="34" charset="-122"/>
                <a:cs typeface="Calibri" pitchFamily="34" charset="-120"/>
              </a:rPr>
              <a:t>  3 days overdue</a:t>
            </a:r>
            <a:endParaRPr lang="en-US" sz="1400" dirty="0"/>
          </a:p>
          <a:p>
            <a:pPr indent="0" marL="0">
              <a:buNone/>
            </a:pPr>
            <a:endParaRPr lang="en-US" sz="1400" dirty="0"/>
          </a:p>
          <a:p>
            <a:pPr indent="0" marL="0">
              <a:buNone/>
            </a:pPr>
            <a:r>
              <a:rPr lang="en-US" sz="1200" b="1" dirty="0">
                <a:solidFill>
                  <a:srgbClr val="D1D2D3"/>
                </a:solidFill>
                <a:latin typeface="Calibri" pitchFamily="34" charset="0"/>
                <a:ea typeface="Calibri" pitchFamily="34" charset="-122"/>
                <a:cs typeface="Calibri" pitchFamily="34" charset="-120"/>
              </a:rPr>
              <a:t>Max — Drontal</a:t>
            </a:r>
            <a:endParaRPr lang="en-US" sz="1400" dirty="0"/>
          </a:p>
          <a:p>
            <a:pPr indent="0" marL="0">
              <a:buNone/>
            </a:pPr>
            <a:r>
              <a:rPr lang="en-US" sz="1200" dirty="0">
                <a:solidFill>
                  <a:srgbClr val="F9E795"/>
                </a:solidFill>
                <a:latin typeface="Calibri" pitchFamily="34" charset="0"/>
                <a:ea typeface="Calibri" pitchFamily="34" charset="-122"/>
                <a:cs typeface="Calibri" pitchFamily="34" charset="-120"/>
              </a:rPr>
              <a:t>  Due in 5 days</a:t>
            </a:r>
            <a:endParaRPr lang="en-US" sz="1400" dirty="0"/>
          </a:p>
          <a:p>
            <a:pPr indent="0" marL="0">
              <a:buNone/>
            </a:pPr>
            <a:endParaRPr lang="en-US" sz="1400" dirty="0"/>
          </a:p>
          <a:p>
            <a:pPr indent="0" marL="0">
              <a:buNone/>
            </a:pPr>
            <a:r>
              <a:rPr lang="en-US" sz="1400" b="1" dirty="0">
                <a:solidFill>
                  <a:srgbClr val="E8E8E8"/>
                </a:solidFill>
                <a:latin typeface="Calibri" pitchFamily="34" charset="0"/>
                <a:ea typeface="Calibri" pitchFamily="34" charset="-122"/>
                <a:cs typeface="Calibri" pitchFamily="34" charset="-120"/>
              </a:rPr>
              <a:t>Unpaid Bills</a:t>
            </a:r>
            <a:endParaRPr lang="en-US" sz="1400" dirty="0"/>
          </a:p>
          <a:p>
            <a:pPr indent="0" marL="0">
              <a:buNone/>
            </a:pPr>
            <a:r>
              <a:rPr lang="en-US" sz="1200" dirty="0">
                <a:solidFill>
                  <a:srgbClr val="F96167"/>
                </a:solidFill>
                <a:latin typeface="Calibri" pitchFamily="34" charset="0"/>
                <a:ea typeface="Calibri" pitchFamily="34" charset="-122"/>
                <a:cs typeface="Calibri" pitchFamily="34" charset="-120"/>
              </a:rPr>
              <a:t>  Vet checkup — 1,500 ฿ overdue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8 Variants, One Codebase</a:t>
            </a:r>
            <a:endParaRPr lang="en-US" sz="3600" dirty="0"/>
          </a:p>
        </p:txBody>
      </p:sp>
      <p:pic>
        <p:nvPicPr>
          <p:cNvPr id="3" name="Image 0" descr="preencoded.png">    </p:cNvPr>
          <p:cNvPicPr>
            <a:picLocks noChangeAspect="1"/>
          </p:cNvPicPr>
          <p:nvPr/>
        </p:nvPicPr>
        <p:blipFill>
          <a:blip r:embed="rId1"/>
          <a:stretch>
            <a:fillRect/>
          </a:stretch>
        </p:blipFill>
        <p:spPr>
          <a:xfrm>
            <a:off x="7772400" y="320040"/>
            <a:ext cx="731520" cy="731520"/>
          </a:xfrm>
          <a:prstGeom prst="rect">
            <a:avLst/>
          </a:prstGeom>
        </p:spPr>
      </p:pic>
      <p:sp>
        <p:nvSpPr>
          <p:cNvPr id="4" name="Shape 1"/>
          <p:cNvSpPr/>
          <p:nvPr/>
        </p:nvSpPr>
        <p:spPr>
          <a:xfrm>
            <a:off x="640080" y="1371600"/>
            <a:ext cx="7863840" cy="411480"/>
          </a:xfrm>
          <a:prstGeom prst="rect">
            <a:avLst/>
          </a:prstGeom>
          <a:solidFill>
            <a:srgbClr val="028090"/>
          </a:solidFill>
          <a:ln/>
        </p:spPr>
      </p:sp>
      <p:sp>
        <p:nvSpPr>
          <p:cNvPr id="5" name="Text 2"/>
          <p:cNvSpPr/>
          <p:nvPr/>
        </p:nvSpPr>
        <p:spPr>
          <a:xfrm>
            <a:off x="731520" y="1371600"/>
            <a:ext cx="24688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File</a:t>
            </a:r>
            <a:endParaRPr lang="en-US" sz="1100" dirty="0"/>
          </a:p>
        </p:txBody>
      </p:sp>
      <p:sp>
        <p:nvSpPr>
          <p:cNvPr id="6" name="Text 3"/>
          <p:cNvSpPr/>
          <p:nvPr/>
        </p:nvSpPr>
        <p:spPr>
          <a:xfrm>
            <a:off x="3200400" y="1371600"/>
            <a:ext cx="11887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p>
        </p:txBody>
      </p:sp>
      <p:sp>
        <p:nvSpPr>
          <p:cNvPr id="7" name="Text 4"/>
          <p:cNvSpPr/>
          <p:nvPr/>
        </p:nvSpPr>
        <p:spPr>
          <a:xfrm>
            <a:off x="4389120" y="1371600"/>
            <a:ext cx="29260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Features</a:t>
            </a:r>
            <a:endParaRPr lang="en-US" sz="1100" dirty="0"/>
          </a:p>
        </p:txBody>
      </p:sp>
      <p:sp>
        <p:nvSpPr>
          <p:cNvPr id="8" name="Text 5"/>
          <p:cNvSpPr/>
          <p:nvPr/>
        </p:nvSpPr>
        <p:spPr>
          <a:xfrm>
            <a:off x="7406640" y="1371600"/>
            <a:ext cx="10058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Lines</a:t>
            </a:r>
            <a:endParaRPr lang="en-US" sz="1100" dirty="0"/>
          </a:p>
        </p:txBody>
      </p:sp>
      <p:sp>
        <p:nvSpPr>
          <p:cNvPr id="9" name="Shape 6"/>
          <p:cNvSpPr/>
          <p:nvPr/>
        </p:nvSpPr>
        <p:spPr>
          <a:xfrm>
            <a:off x="640080" y="1783080"/>
            <a:ext cx="7863840" cy="384048"/>
          </a:xfrm>
          <a:prstGeom prst="rect">
            <a:avLst/>
          </a:prstGeom>
          <a:solidFill>
            <a:srgbClr val="FFFFFF"/>
          </a:solidFill>
          <a:ln/>
        </p:spPr>
      </p:sp>
      <p:sp>
        <p:nvSpPr>
          <p:cNvPr id="10" name="Shape 7"/>
          <p:cNvSpPr/>
          <p:nvPr/>
        </p:nvSpPr>
        <p:spPr>
          <a:xfrm>
            <a:off x="640080" y="1783080"/>
            <a:ext cx="54864" cy="384048"/>
          </a:xfrm>
          <a:prstGeom prst="rect">
            <a:avLst/>
          </a:prstGeom>
          <a:solidFill>
            <a:srgbClr val="028090"/>
          </a:solidFill>
          <a:ln/>
        </p:spPr>
      </p:sp>
      <p:sp>
        <p:nvSpPr>
          <p:cNvPr id="11" name="Text 8"/>
          <p:cNvSpPr/>
          <p:nvPr/>
        </p:nvSpPr>
        <p:spPr>
          <a:xfrm>
            <a:off x="731520" y="1783080"/>
            <a:ext cx="2468880" cy="384048"/>
          </a:xfrm>
          <a:prstGeom prst="rect">
            <a:avLst/>
          </a:prstGeom>
          <a:noFill/>
          <a:ln/>
        </p:spPr>
        <p:txBody>
          <a:bodyPr wrap="square" lIns="0" tIns="0" rIns="0" bIns="0" rtlCol="0" anchor="ctr"/>
          <a:lstStyle/>
          <a:p>
            <a:pPr indent="0" marL="0">
              <a:buNone/>
            </a:pPr>
            <a:r>
              <a:rPr lang="en-US" sz="1000" b="1" dirty="0">
                <a:solidFill>
                  <a:srgbClr val="028090"/>
                </a:solidFill>
                <a:latin typeface="Consolas" pitchFamily="34" charset="0"/>
                <a:ea typeface="Consolas" pitchFamily="34" charset="-122"/>
                <a:cs typeface="Consolas" pitchFamily="34" charset="-120"/>
              </a:rPr>
              <a:t>index.html</a:t>
            </a:r>
            <a:endParaRPr lang="en-US" sz="1000" dirty="0"/>
          </a:p>
        </p:txBody>
      </p:sp>
      <p:sp>
        <p:nvSpPr>
          <p:cNvPr id="12" name="Text 9"/>
          <p:cNvSpPr/>
          <p:nvPr/>
        </p:nvSpPr>
        <p:spPr>
          <a:xfrm>
            <a:off x="3200400" y="1783080"/>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Main version</a:t>
            </a:r>
            <a:endParaRPr lang="en-US" sz="1000" dirty="0"/>
          </a:p>
        </p:txBody>
      </p:sp>
      <p:sp>
        <p:nvSpPr>
          <p:cNvPr id="13" name="Text 10"/>
          <p:cNvSpPr/>
          <p:nvPr/>
        </p:nvSpPr>
        <p:spPr>
          <a:xfrm>
            <a:off x="4389120" y="1783080"/>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Firebase + Slack + OCR + Cash Advance</a:t>
            </a:r>
            <a:endParaRPr lang="en-US" sz="1000" dirty="0"/>
          </a:p>
        </p:txBody>
      </p:sp>
      <p:sp>
        <p:nvSpPr>
          <p:cNvPr id="14" name="Text 11"/>
          <p:cNvSpPr/>
          <p:nvPr/>
        </p:nvSpPr>
        <p:spPr>
          <a:xfrm>
            <a:off x="7406640" y="1783080"/>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1,352</a:t>
            </a:r>
            <a:endParaRPr lang="en-US" sz="1000" dirty="0"/>
          </a:p>
        </p:txBody>
      </p:sp>
      <p:sp>
        <p:nvSpPr>
          <p:cNvPr id="15" name="Shape 12"/>
          <p:cNvSpPr/>
          <p:nvPr/>
        </p:nvSpPr>
        <p:spPr>
          <a:xfrm>
            <a:off x="640080" y="2167128"/>
            <a:ext cx="7863840" cy="384048"/>
          </a:xfrm>
          <a:prstGeom prst="rect">
            <a:avLst/>
          </a:prstGeom>
          <a:solidFill>
            <a:srgbClr val="E8F0EE"/>
          </a:solidFill>
          <a:ln/>
        </p:spPr>
      </p:sp>
      <p:sp>
        <p:nvSpPr>
          <p:cNvPr id="16" name="Text 13"/>
          <p:cNvSpPr/>
          <p:nvPr/>
        </p:nvSpPr>
        <p:spPr>
          <a:xfrm>
            <a:off x="731520" y="2167128"/>
            <a:ext cx="2468880" cy="384048"/>
          </a:xfrm>
          <a:prstGeom prst="rect">
            <a:avLst/>
          </a:prstGeom>
          <a:noFill/>
          <a:ln/>
        </p:spPr>
        <p:txBody>
          <a:bodyPr wrap="square" lIns="0" tIns="0" rIns="0" bIns="0" rtlCol="0" anchor="ctr"/>
          <a:lstStyle/>
          <a:p>
            <a:pPr indent="0" marL="0">
              <a:buNone/>
            </a:pPr>
            <a:r>
              <a:rPr lang="en-US" sz="1000" dirty="0">
                <a:solidFill>
                  <a:srgbClr val="1A2332"/>
                </a:solidFill>
                <a:latin typeface="Consolas" pitchFamily="34" charset="0"/>
                <a:ea typeface="Consolas" pitchFamily="34" charset="-122"/>
                <a:cs typeface="Consolas" pitchFamily="34" charset="-120"/>
              </a:rPr>
              <a:t>the-dog-log.html</a:t>
            </a:r>
            <a:endParaRPr lang="en-US" sz="1000" dirty="0"/>
          </a:p>
        </p:txBody>
      </p:sp>
      <p:sp>
        <p:nvSpPr>
          <p:cNvPr id="17" name="Text 14"/>
          <p:cNvSpPr/>
          <p:nvPr/>
        </p:nvSpPr>
        <p:spPr>
          <a:xfrm>
            <a:off x="3200400" y="2167128"/>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Standalone</a:t>
            </a:r>
            <a:endParaRPr lang="en-US" sz="1000" dirty="0"/>
          </a:p>
        </p:txBody>
      </p:sp>
      <p:sp>
        <p:nvSpPr>
          <p:cNvPr id="18" name="Text 15"/>
          <p:cNvSpPr/>
          <p:nvPr/>
        </p:nvSpPr>
        <p:spPr>
          <a:xfrm>
            <a:off x="4389120" y="2167128"/>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localStorage + OCR + Simple UI</a:t>
            </a:r>
            <a:endParaRPr lang="en-US" sz="1000" dirty="0"/>
          </a:p>
        </p:txBody>
      </p:sp>
      <p:sp>
        <p:nvSpPr>
          <p:cNvPr id="19" name="Text 16"/>
          <p:cNvSpPr/>
          <p:nvPr/>
        </p:nvSpPr>
        <p:spPr>
          <a:xfrm>
            <a:off x="7406640" y="2167128"/>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887</a:t>
            </a:r>
            <a:endParaRPr lang="en-US" sz="1000" dirty="0"/>
          </a:p>
        </p:txBody>
      </p:sp>
      <p:sp>
        <p:nvSpPr>
          <p:cNvPr id="20" name="Shape 17"/>
          <p:cNvSpPr/>
          <p:nvPr/>
        </p:nvSpPr>
        <p:spPr>
          <a:xfrm>
            <a:off x="640080" y="2551176"/>
            <a:ext cx="7863840" cy="384048"/>
          </a:xfrm>
          <a:prstGeom prst="rect">
            <a:avLst/>
          </a:prstGeom>
          <a:solidFill>
            <a:srgbClr val="FFFFFF"/>
          </a:solidFill>
          <a:ln/>
        </p:spPr>
      </p:sp>
      <p:sp>
        <p:nvSpPr>
          <p:cNvPr id="21" name="Text 18"/>
          <p:cNvSpPr/>
          <p:nvPr/>
        </p:nvSpPr>
        <p:spPr>
          <a:xfrm>
            <a:off x="731520" y="2551176"/>
            <a:ext cx="2468880" cy="384048"/>
          </a:xfrm>
          <a:prstGeom prst="rect">
            <a:avLst/>
          </a:prstGeom>
          <a:noFill/>
          <a:ln/>
        </p:spPr>
        <p:txBody>
          <a:bodyPr wrap="square" lIns="0" tIns="0" rIns="0" bIns="0" rtlCol="0" anchor="ctr"/>
          <a:lstStyle/>
          <a:p>
            <a:pPr indent="0" marL="0">
              <a:buNone/>
            </a:pPr>
            <a:r>
              <a:rPr lang="en-US" sz="1000" dirty="0">
                <a:solidFill>
                  <a:srgbClr val="1A2332"/>
                </a:solidFill>
                <a:latin typeface="Consolas" pitchFamily="34" charset="0"/>
                <a:ea typeface="Consolas" pitchFamily="34" charset="-122"/>
                <a:cs typeface="Consolas" pitchFamily="34" charset="-120"/>
              </a:rPr>
              <a:t>dog-log-excel.html</a:t>
            </a:r>
            <a:endParaRPr lang="en-US" sz="1000" dirty="0"/>
          </a:p>
        </p:txBody>
      </p:sp>
      <p:sp>
        <p:nvSpPr>
          <p:cNvPr id="22" name="Text 19"/>
          <p:cNvSpPr/>
          <p:nvPr/>
        </p:nvSpPr>
        <p:spPr>
          <a:xfrm>
            <a:off x="3200400" y="2551176"/>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Excel-focused</a:t>
            </a:r>
            <a:endParaRPr lang="en-US" sz="1000" dirty="0"/>
          </a:p>
        </p:txBody>
      </p:sp>
      <p:sp>
        <p:nvSpPr>
          <p:cNvPr id="23" name="Text 20"/>
          <p:cNvSpPr/>
          <p:nvPr/>
        </p:nvSpPr>
        <p:spPr>
          <a:xfrm>
            <a:off x="4389120" y="2551176"/>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SheetJS import/export + Excel persist.</a:t>
            </a:r>
            <a:endParaRPr lang="en-US" sz="1000" dirty="0"/>
          </a:p>
        </p:txBody>
      </p:sp>
      <p:sp>
        <p:nvSpPr>
          <p:cNvPr id="24" name="Text 21"/>
          <p:cNvSpPr/>
          <p:nvPr/>
        </p:nvSpPr>
        <p:spPr>
          <a:xfrm>
            <a:off x="7406640" y="2551176"/>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1,139</a:t>
            </a:r>
            <a:endParaRPr lang="en-US" sz="1000" dirty="0"/>
          </a:p>
        </p:txBody>
      </p:sp>
      <p:sp>
        <p:nvSpPr>
          <p:cNvPr id="25" name="Shape 22"/>
          <p:cNvSpPr/>
          <p:nvPr/>
        </p:nvSpPr>
        <p:spPr>
          <a:xfrm>
            <a:off x="640080" y="2935224"/>
            <a:ext cx="7863840" cy="384048"/>
          </a:xfrm>
          <a:prstGeom prst="rect">
            <a:avLst/>
          </a:prstGeom>
          <a:solidFill>
            <a:srgbClr val="E8F0EE"/>
          </a:solidFill>
          <a:ln/>
        </p:spPr>
      </p:sp>
      <p:sp>
        <p:nvSpPr>
          <p:cNvPr id="26" name="Text 23"/>
          <p:cNvSpPr/>
          <p:nvPr/>
        </p:nvSpPr>
        <p:spPr>
          <a:xfrm>
            <a:off x="731520" y="2935224"/>
            <a:ext cx="2468880" cy="384048"/>
          </a:xfrm>
          <a:prstGeom prst="rect">
            <a:avLst/>
          </a:prstGeom>
          <a:noFill/>
          <a:ln/>
        </p:spPr>
        <p:txBody>
          <a:bodyPr wrap="square" lIns="0" tIns="0" rIns="0" bIns="0" rtlCol="0" anchor="ctr"/>
          <a:lstStyle/>
          <a:p>
            <a:pPr indent="0" marL="0">
              <a:buNone/>
            </a:pPr>
            <a:r>
              <a:rPr lang="en-US" sz="1000" dirty="0">
                <a:solidFill>
                  <a:srgbClr val="1A2332"/>
                </a:solidFill>
                <a:latin typeface="Consolas" pitchFamily="34" charset="0"/>
                <a:ea typeface="Consolas" pitchFamily="34" charset="-122"/>
                <a:cs typeface="Consolas" pitchFamily="34" charset="-120"/>
              </a:rPr>
              <a:t>dog-log-firebase.html</a:t>
            </a:r>
            <a:endParaRPr lang="en-US" sz="1000" dirty="0"/>
          </a:p>
        </p:txBody>
      </p:sp>
      <p:sp>
        <p:nvSpPr>
          <p:cNvPr id="27" name="Text 24"/>
          <p:cNvSpPr/>
          <p:nvPr/>
        </p:nvSpPr>
        <p:spPr>
          <a:xfrm>
            <a:off x="3200400" y="2935224"/>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Cloud sync</a:t>
            </a:r>
            <a:endParaRPr lang="en-US" sz="1000" dirty="0"/>
          </a:p>
        </p:txBody>
      </p:sp>
      <p:sp>
        <p:nvSpPr>
          <p:cNvPr id="28" name="Text 25"/>
          <p:cNvSpPr/>
          <p:nvPr/>
        </p:nvSpPr>
        <p:spPr>
          <a:xfrm>
            <a:off x="4389120" y="2935224"/>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Firebase real-time sync only</a:t>
            </a:r>
            <a:endParaRPr lang="en-US" sz="1000" dirty="0"/>
          </a:p>
        </p:txBody>
      </p:sp>
      <p:sp>
        <p:nvSpPr>
          <p:cNvPr id="29" name="Text 26"/>
          <p:cNvSpPr/>
          <p:nvPr/>
        </p:nvSpPr>
        <p:spPr>
          <a:xfrm>
            <a:off x="7406640" y="2935224"/>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692</a:t>
            </a:r>
            <a:endParaRPr lang="en-US" sz="1000" dirty="0"/>
          </a:p>
        </p:txBody>
      </p:sp>
      <p:sp>
        <p:nvSpPr>
          <p:cNvPr id="30" name="Shape 27"/>
          <p:cNvSpPr/>
          <p:nvPr/>
        </p:nvSpPr>
        <p:spPr>
          <a:xfrm>
            <a:off x="640080" y="3319272"/>
            <a:ext cx="7863840" cy="384048"/>
          </a:xfrm>
          <a:prstGeom prst="rect">
            <a:avLst/>
          </a:prstGeom>
          <a:solidFill>
            <a:srgbClr val="FFFFFF"/>
          </a:solidFill>
          <a:ln/>
        </p:spPr>
      </p:sp>
      <p:sp>
        <p:nvSpPr>
          <p:cNvPr id="31" name="Text 28"/>
          <p:cNvSpPr/>
          <p:nvPr/>
        </p:nvSpPr>
        <p:spPr>
          <a:xfrm>
            <a:off x="731520" y="3319272"/>
            <a:ext cx="2468880" cy="384048"/>
          </a:xfrm>
          <a:prstGeom prst="rect">
            <a:avLst/>
          </a:prstGeom>
          <a:noFill/>
          <a:ln/>
        </p:spPr>
        <p:txBody>
          <a:bodyPr wrap="square" lIns="0" tIns="0" rIns="0" bIns="0" rtlCol="0" anchor="ctr"/>
          <a:lstStyle/>
          <a:p>
            <a:pPr indent="0" marL="0">
              <a:buNone/>
            </a:pPr>
            <a:r>
              <a:rPr lang="en-US" sz="1000" dirty="0">
                <a:solidFill>
                  <a:srgbClr val="1A2332"/>
                </a:solidFill>
                <a:latin typeface="Consolas" pitchFamily="34" charset="0"/>
                <a:ea typeface="Consolas" pitchFamily="34" charset="-122"/>
                <a:cs typeface="Consolas" pitchFamily="34" charset="-120"/>
              </a:rPr>
              <a:t>dog-tracker-team.html</a:t>
            </a:r>
            <a:endParaRPr lang="en-US" sz="1000" dirty="0"/>
          </a:p>
        </p:txBody>
      </p:sp>
      <p:sp>
        <p:nvSpPr>
          <p:cNvPr id="32" name="Text 29"/>
          <p:cNvSpPr/>
          <p:nvPr/>
        </p:nvSpPr>
        <p:spPr>
          <a:xfrm>
            <a:off x="3200400" y="3319272"/>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Multi-user</a:t>
            </a:r>
            <a:endParaRPr lang="en-US" sz="1000" dirty="0"/>
          </a:p>
        </p:txBody>
      </p:sp>
      <p:sp>
        <p:nvSpPr>
          <p:cNvPr id="33" name="Text 30"/>
          <p:cNvSpPr/>
          <p:nvPr/>
        </p:nvSpPr>
        <p:spPr>
          <a:xfrm>
            <a:off x="4389120" y="3319272"/>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Team collaboration + Firebase</a:t>
            </a:r>
            <a:endParaRPr lang="en-US" sz="1000" dirty="0"/>
          </a:p>
        </p:txBody>
      </p:sp>
      <p:sp>
        <p:nvSpPr>
          <p:cNvPr id="34" name="Text 31"/>
          <p:cNvSpPr/>
          <p:nvPr/>
        </p:nvSpPr>
        <p:spPr>
          <a:xfrm>
            <a:off x="7406640" y="3319272"/>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1,163</a:t>
            </a:r>
            <a:endParaRPr lang="en-US" sz="1000" dirty="0"/>
          </a:p>
        </p:txBody>
      </p:sp>
      <p:sp>
        <p:nvSpPr>
          <p:cNvPr id="35" name="Shape 32"/>
          <p:cNvSpPr/>
          <p:nvPr/>
        </p:nvSpPr>
        <p:spPr>
          <a:xfrm>
            <a:off x="640080" y="3703320"/>
            <a:ext cx="7863840" cy="384048"/>
          </a:xfrm>
          <a:prstGeom prst="rect">
            <a:avLst/>
          </a:prstGeom>
          <a:solidFill>
            <a:srgbClr val="E8F0EE"/>
          </a:solidFill>
          <a:ln/>
        </p:spPr>
      </p:sp>
      <p:sp>
        <p:nvSpPr>
          <p:cNvPr id="36" name="Text 33"/>
          <p:cNvSpPr/>
          <p:nvPr/>
        </p:nvSpPr>
        <p:spPr>
          <a:xfrm>
            <a:off x="731520" y="3703320"/>
            <a:ext cx="2468880" cy="384048"/>
          </a:xfrm>
          <a:prstGeom prst="rect">
            <a:avLst/>
          </a:prstGeom>
          <a:noFill/>
          <a:ln/>
        </p:spPr>
        <p:txBody>
          <a:bodyPr wrap="square" lIns="0" tIns="0" rIns="0" bIns="0" rtlCol="0" anchor="ctr"/>
          <a:lstStyle/>
          <a:p>
            <a:pPr indent="0" marL="0">
              <a:buNone/>
            </a:pPr>
            <a:r>
              <a:rPr lang="en-US" sz="1000" dirty="0">
                <a:solidFill>
                  <a:srgbClr val="1A2332"/>
                </a:solidFill>
                <a:latin typeface="Consolas" pitchFamily="34" charset="0"/>
                <a:ea typeface="Consolas" pitchFamily="34" charset="-122"/>
                <a:cs typeface="Consolas" pitchFamily="34" charset="-120"/>
              </a:rPr>
              <a:t>dog-log-gsheet.html</a:t>
            </a:r>
            <a:endParaRPr lang="en-US" sz="1000" dirty="0"/>
          </a:p>
        </p:txBody>
      </p:sp>
      <p:sp>
        <p:nvSpPr>
          <p:cNvPr id="37" name="Text 34"/>
          <p:cNvSpPr/>
          <p:nvPr/>
        </p:nvSpPr>
        <p:spPr>
          <a:xfrm>
            <a:off x="3200400" y="3703320"/>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Google Sheets</a:t>
            </a:r>
            <a:endParaRPr lang="en-US" sz="1000" dirty="0"/>
          </a:p>
        </p:txBody>
      </p:sp>
      <p:sp>
        <p:nvSpPr>
          <p:cNvPr id="38" name="Text 35"/>
          <p:cNvSpPr/>
          <p:nvPr/>
        </p:nvSpPr>
        <p:spPr>
          <a:xfrm>
            <a:off x="4389120" y="3703320"/>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CSV sync with Google Sheets API</a:t>
            </a:r>
            <a:endParaRPr lang="en-US" sz="1000" dirty="0"/>
          </a:p>
        </p:txBody>
      </p:sp>
      <p:sp>
        <p:nvSpPr>
          <p:cNvPr id="39" name="Text 36"/>
          <p:cNvSpPr/>
          <p:nvPr/>
        </p:nvSpPr>
        <p:spPr>
          <a:xfrm>
            <a:off x="7406640" y="3703320"/>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667</a:t>
            </a:r>
            <a:endParaRPr lang="en-US" sz="1000" dirty="0"/>
          </a:p>
        </p:txBody>
      </p:sp>
      <p:sp>
        <p:nvSpPr>
          <p:cNvPr id="40" name="Shape 37"/>
          <p:cNvSpPr/>
          <p:nvPr/>
        </p:nvSpPr>
        <p:spPr>
          <a:xfrm>
            <a:off x="640080" y="4087368"/>
            <a:ext cx="7863840" cy="384048"/>
          </a:xfrm>
          <a:prstGeom prst="rect">
            <a:avLst/>
          </a:prstGeom>
          <a:solidFill>
            <a:srgbClr val="FFFFFF"/>
          </a:solidFill>
          <a:ln/>
        </p:spPr>
      </p:sp>
      <p:sp>
        <p:nvSpPr>
          <p:cNvPr id="41" name="Text 38"/>
          <p:cNvSpPr/>
          <p:nvPr/>
        </p:nvSpPr>
        <p:spPr>
          <a:xfrm>
            <a:off x="731520" y="4087368"/>
            <a:ext cx="2468880" cy="384048"/>
          </a:xfrm>
          <a:prstGeom prst="rect">
            <a:avLst/>
          </a:prstGeom>
          <a:noFill/>
          <a:ln/>
        </p:spPr>
        <p:txBody>
          <a:bodyPr wrap="square" lIns="0" tIns="0" rIns="0" bIns="0" rtlCol="0" anchor="ctr"/>
          <a:lstStyle/>
          <a:p>
            <a:pPr indent="0" marL="0">
              <a:buNone/>
            </a:pPr>
            <a:r>
              <a:rPr lang="en-US" sz="1000" dirty="0">
                <a:solidFill>
                  <a:srgbClr val="1A2332"/>
                </a:solidFill>
                <a:latin typeface="Consolas" pitchFamily="34" charset="0"/>
                <a:ea typeface="Consolas" pitchFamily="34" charset="-122"/>
                <a:cs typeface="Consolas" pitchFamily="34" charset="-120"/>
              </a:rPr>
              <a:t>dog-log-autosave.html</a:t>
            </a:r>
            <a:endParaRPr lang="en-US" sz="1000" dirty="0"/>
          </a:p>
        </p:txBody>
      </p:sp>
      <p:sp>
        <p:nvSpPr>
          <p:cNvPr id="42" name="Text 39"/>
          <p:cNvSpPr/>
          <p:nvPr/>
        </p:nvSpPr>
        <p:spPr>
          <a:xfrm>
            <a:off x="3200400" y="4087368"/>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File system</a:t>
            </a:r>
            <a:endParaRPr lang="en-US" sz="1000" dirty="0"/>
          </a:p>
        </p:txBody>
      </p:sp>
      <p:sp>
        <p:nvSpPr>
          <p:cNvPr id="43" name="Text 40"/>
          <p:cNvSpPr/>
          <p:nvPr/>
        </p:nvSpPr>
        <p:spPr>
          <a:xfrm>
            <a:off x="4389120" y="4087368"/>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File Picker API for local persistence</a:t>
            </a:r>
            <a:endParaRPr lang="en-US" sz="1000" dirty="0"/>
          </a:p>
        </p:txBody>
      </p:sp>
      <p:sp>
        <p:nvSpPr>
          <p:cNvPr id="44" name="Text 41"/>
          <p:cNvSpPr/>
          <p:nvPr/>
        </p:nvSpPr>
        <p:spPr>
          <a:xfrm>
            <a:off x="7406640" y="4087368"/>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734</a:t>
            </a:r>
            <a:endParaRPr lang="en-US" sz="1000" dirty="0"/>
          </a:p>
        </p:txBody>
      </p:sp>
      <p:sp>
        <p:nvSpPr>
          <p:cNvPr id="45" name="Shape 42"/>
          <p:cNvSpPr/>
          <p:nvPr/>
        </p:nvSpPr>
        <p:spPr>
          <a:xfrm>
            <a:off x="640080" y="4471416"/>
            <a:ext cx="7863840" cy="384048"/>
          </a:xfrm>
          <a:prstGeom prst="rect">
            <a:avLst/>
          </a:prstGeom>
          <a:solidFill>
            <a:srgbClr val="E8F0EE"/>
          </a:solidFill>
          <a:ln/>
        </p:spPr>
      </p:sp>
      <p:sp>
        <p:nvSpPr>
          <p:cNvPr id="46" name="Text 43"/>
          <p:cNvSpPr/>
          <p:nvPr/>
        </p:nvSpPr>
        <p:spPr>
          <a:xfrm>
            <a:off x="731520" y="4471416"/>
            <a:ext cx="2468880" cy="384048"/>
          </a:xfrm>
          <a:prstGeom prst="rect">
            <a:avLst/>
          </a:prstGeom>
          <a:noFill/>
          <a:ln/>
        </p:spPr>
        <p:txBody>
          <a:bodyPr wrap="square" lIns="0" tIns="0" rIns="0" bIns="0" rtlCol="0" anchor="ctr"/>
          <a:lstStyle/>
          <a:p>
            <a:pPr indent="0" marL="0">
              <a:buNone/>
            </a:pPr>
            <a:r>
              <a:rPr lang="en-US" sz="1000" dirty="0">
                <a:solidFill>
                  <a:srgbClr val="1A2332"/>
                </a:solidFill>
                <a:latin typeface="Consolas" pitchFamily="34" charset="0"/>
                <a:ea typeface="Consolas" pitchFamily="34" charset="-122"/>
                <a:cs typeface="Consolas" pitchFamily="34" charset="-120"/>
              </a:rPr>
              <a:t>dog-med-tracker.jsx</a:t>
            </a:r>
            <a:endParaRPr lang="en-US" sz="1000" dirty="0"/>
          </a:p>
        </p:txBody>
      </p:sp>
      <p:sp>
        <p:nvSpPr>
          <p:cNvPr id="47" name="Text 44"/>
          <p:cNvSpPr/>
          <p:nvPr/>
        </p:nvSpPr>
        <p:spPr>
          <a:xfrm>
            <a:off x="3200400" y="4471416"/>
            <a:ext cx="118872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React component</a:t>
            </a:r>
            <a:endParaRPr lang="en-US" sz="1000" dirty="0"/>
          </a:p>
        </p:txBody>
      </p:sp>
      <p:sp>
        <p:nvSpPr>
          <p:cNvPr id="48" name="Text 45"/>
          <p:cNvSpPr/>
          <p:nvPr/>
        </p:nvSpPr>
        <p:spPr>
          <a:xfrm>
            <a:off x="4389120" y="4471416"/>
            <a:ext cx="292608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Standalone JSX (needs build process)</a:t>
            </a:r>
            <a:endParaRPr lang="en-US" sz="1000" dirty="0"/>
          </a:p>
        </p:txBody>
      </p:sp>
      <p:sp>
        <p:nvSpPr>
          <p:cNvPr id="49" name="Text 46"/>
          <p:cNvSpPr/>
          <p:nvPr/>
        </p:nvSpPr>
        <p:spPr>
          <a:xfrm>
            <a:off x="7406640" y="4471416"/>
            <a:ext cx="1005840" cy="384048"/>
          </a:xfrm>
          <a:prstGeom prst="rect">
            <a:avLst/>
          </a:prstGeom>
          <a:noFill/>
          <a:ln/>
        </p:spPr>
        <p:txBody>
          <a:bodyPr wrap="square" lIns="0" tIns="0" rIns="0" bIns="0" rtlCol="0" anchor="ctr"/>
          <a:lstStyle/>
          <a:p>
            <a:pPr algn="ctr" indent="0" marL="0">
              <a:buNone/>
            </a:pPr>
            <a:r>
              <a:rPr lang="en-US" sz="1000" dirty="0">
                <a:solidFill>
                  <a:srgbClr val="8896A5"/>
                </a:solidFill>
                <a:latin typeface="Calibri" pitchFamily="34" charset="0"/>
                <a:ea typeface="Calibri" pitchFamily="34" charset="-122"/>
                <a:cs typeface="Calibri" pitchFamily="34" charset="-120"/>
              </a:rPr>
              <a:t>595</a:t>
            </a:r>
            <a:endParaRPr lang="en-US" sz="1000" dirty="0"/>
          </a:p>
        </p:txBody>
      </p:sp>
      <p:sp>
        <p:nvSpPr>
          <p:cNvPr id="50" name="Shape 47"/>
          <p:cNvSpPr/>
          <p:nvPr/>
        </p:nvSpPr>
        <p:spPr>
          <a:xfrm>
            <a:off x="640080" y="4892040"/>
            <a:ext cx="7863840" cy="9144"/>
          </a:xfrm>
          <a:prstGeom prst="rect">
            <a:avLst/>
          </a:prstGeom>
          <a:solidFill>
            <a:srgbClr val="028090"/>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486400" y="-914400"/>
            <a:ext cx="4572000" cy="4572000"/>
          </a:xfrm>
          <a:prstGeom prst="ellipse">
            <a:avLst/>
          </a:prstGeom>
          <a:solidFill>
            <a:srgbClr val="02C39A">
              <a:alpha val="15000"/>
            </a:srgbClr>
          </a:solidFill>
          <a:ln/>
        </p:spPr>
      </p:sp>
      <p:pic>
        <p:nvPicPr>
          <p:cNvPr id="3" name="Image 0" descr="preencoded.png">    </p:cNvPr>
          <p:cNvPicPr>
            <a:picLocks noChangeAspect="1"/>
          </p:cNvPicPr>
          <p:nvPr/>
        </p:nvPicPr>
        <p:blipFill>
          <a:blip r:embed="rId1"/>
          <a:stretch>
            <a:fillRect/>
          </a:stretch>
        </p:blipFill>
        <p:spPr>
          <a:xfrm>
            <a:off x="3886200" y="731520"/>
            <a:ext cx="1371600" cy="1371600"/>
          </a:xfrm>
          <a:prstGeom prst="rect">
            <a:avLst/>
          </a:prstGeom>
        </p:spPr>
      </p:pic>
      <p:sp>
        <p:nvSpPr>
          <p:cNvPr id="4" name="Text 1"/>
          <p:cNvSpPr/>
          <p:nvPr/>
        </p:nvSpPr>
        <p:spPr>
          <a:xfrm>
            <a:off x="457200" y="2286000"/>
            <a:ext cx="822960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Lessons Learned</a:t>
            </a:r>
            <a:endParaRPr lang="en-US" sz="4400" dirty="0"/>
          </a:p>
        </p:txBody>
      </p:sp>
      <p:sp>
        <p:nvSpPr>
          <p:cNvPr id="5" name="Text 2"/>
          <p:cNvSpPr/>
          <p:nvPr/>
        </p:nvSpPr>
        <p:spPr>
          <a:xfrm>
            <a:off x="914400" y="3108960"/>
            <a:ext cx="7315200" cy="457200"/>
          </a:xfrm>
          <a:prstGeom prst="rect">
            <a:avLst/>
          </a:prstGeom>
          <a:noFill/>
          <a:ln/>
        </p:spPr>
        <p:txBody>
          <a:bodyPr wrap="square" lIns="0" tIns="0" rIns="0" bIns="0" rtlCol="0" anchor="ctr"/>
          <a:lstStyle/>
          <a:p>
            <a:pPr algn="ctr" indent="0" marL="0">
              <a:buNone/>
            </a:pPr>
            <a:r>
              <a:rPr lang="en-US" sz="1800" dirty="0">
                <a:solidFill>
                  <a:srgbClr val="02C39A"/>
                </a:solidFill>
                <a:latin typeface="Calibri" pitchFamily="34" charset="0"/>
                <a:ea typeface="Calibri" pitchFamily="34" charset="-122"/>
                <a:cs typeface="Calibri" pitchFamily="34" charset="-120"/>
              </a:rPr>
              <a:t>What would we do differently?</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indent="0" marL="0">
              <a:buNone/>
            </a:pPr>
            <a:r>
              <a:rPr lang="en-US" sz="3600" b="1" dirty="0">
                <a:solidFill>
                  <a:srgbClr val="1A2332"/>
                </a:solidFill>
                <a:latin typeface="Trebuchet MS" pitchFamily="34" charset="0"/>
                <a:ea typeface="Trebuchet MS" pitchFamily="34" charset="-122"/>
                <a:cs typeface="Trebuchet MS" pitchFamily="34" charset="-120"/>
              </a:rPr>
              <a:t>Key Takeaways</a:t>
            </a:r>
            <a:endParaRPr lang="en-US" sz="3600" dirty="0"/>
          </a:p>
        </p:txBody>
      </p:sp>
      <p:sp>
        <p:nvSpPr>
          <p:cNvPr id="3" name="Shape 1"/>
          <p:cNvSpPr/>
          <p:nvPr/>
        </p:nvSpPr>
        <p:spPr>
          <a:xfrm>
            <a:off x="640080" y="1280160"/>
            <a:ext cx="7863840" cy="77724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822960" y="1389888"/>
            <a:ext cx="548640" cy="548640"/>
          </a:xfrm>
          <a:prstGeom prst="rect">
            <a:avLst/>
          </a:prstGeom>
        </p:spPr>
      </p:pic>
      <p:sp>
        <p:nvSpPr>
          <p:cNvPr id="5" name="Text 2"/>
          <p:cNvSpPr/>
          <p:nvPr/>
        </p:nvSpPr>
        <p:spPr>
          <a:xfrm>
            <a:off x="1554480" y="1325880"/>
            <a:ext cx="6766560" cy="32004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No-build has real advantages</a:t>
            </a:r>
            <a:endParaRPr lang="en-US" sz="1600" dirty="0"/>
          </a:p>
        </p:txBody>
      </p:sp>
      <p:sp>
        <p:nvSpPr>
          <p:cNvPr id="6" name="Text 3"/>
          <p:cNvSpPr/>
          <p:nvPr/>
        </p:nvSpPr>
        <p:spPr>
          <a:xfrm>
            <a:off x="1554480" y="1664208"/>
            <a:ext cx="6766560" cy="3200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Zero friction deployment wins for internal tools. Someone new joins? Send them the file. Done.</a:t>
            </a:r>
            <a:endParaRPr lang="en-US" sz="1300" dirty="0"/>
          </a:p>
        </p:txBody>
      </p:sp>
      <p:sp>
        <p:nvSpPr>
          <p:cNvPr id="7" name="Shape 4"/>
          <p:cNvSpPr/>
          <p:nvPr/>
        </p:nvSpPr>
        <p:spPr>
          <a:xfrm>
            <a:off x="640080" y="2194560"/>
            <a:ext cx="7863840" cy="77724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822960" y="2304288"/>
            <a:ext cx="548640" cy="548640"/>
          </a:xfrm>
          <a:prstGeom prst="rect">
            <a:avLst/>
          </a:prstGeom>
        </p:spPr>
      </p:pic>
      <p:sp>
        <p:nvSpPr>
          <p:cNvPr id="9" name="Text 5"/>
          <p:cNvSpPr/>
          <p:nvPr/>
        </p:nvSpPr>
        <p:spPr>
          <a:xfrm>
            <a:off x="1554480" y="2240280"/>
            <a:ext cx="6766560" cy="32004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Be careful with credentials</a:t>
            </a:r>
            <a:endParaRPr lang="en-US" sz="1600" dirty="0"/>
          </a:p>
        </p:txBody>
      </p:sp>
      <p:sp>
        <p:nvSpPr>
          <p:cNvPr id="10" name="Text 6"/>
          <p:cNvSpPr/>
          <p:nvPr/>
        </p:nvSpPr>
        <p:spPr>
          <a:xfrm>
            <a:off x="1554480" y="2578608"/>
            <a:ext cx="6766560" cy="3200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Firebase API keys and Slack webhooks in client-side code need proper security rules. Don't skip this.</a:t>
            </a:r>
            <a:endParaRPr lang="en-US" sz="1300" dirty="0"/>
          </a:p>
        </p:txBody>
      </p:sp>
      <p:sp>
        <p:nvSpPr>
          <p:cNvPr id="11" name="Shape 7"/>
          <p:cNvSpPr/>
          <p:nvPr/>
        </p:nvSpPr>
        <p:spPr>
          <a:xfrm>
            <a:off x="640080" y="3108960"/>
            <a:ext cx="7863840" cy="77724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822960" y="3218688"/>
            <a:ext cx="548640" cy="548640"/>
          </a:xfrm>
          <a:prstGeom prst="rect">
            <a:avLst/>
          </a:prstGeom>
        </p:spPr>
      </p:pic>
      <p:sp>
        <p:nvSpPr>
          <p:cNvPr id="13" name="Text 8"/>
          <p:cNvSpPr/>
          <p:nvPr/>
        </p:nvSpPr>
        <p:spPr>
          <a:xfrm>
            <a:off x="1554480" y="3154680"/>
            <a:ext cx="6766560" cy="32004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Mobile-first pays off</a:t>
            </a:r>
            <a:endParaRPr lang="en-US" sz="1600" dirty="0"/>
          </a:p>
        </p:txBody>
      </p:sp>
      <p:sp>
        <p:nvSpPr>
          <p:cNvPr id="14" name="Text 9"/>
          <p:cNvSpPr/>
          <p:nvPr/>
        </p:nvSpPr>
        <p:spPr>
          <a:xfrm>
            <a:off x="1554480" y="3493008"/>
            <a:ext cx="6766560" cy="3200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44px touch targets and responsive design meant people used it on their phones from day one.</a:t>
            </a:r>
            <a:endParaRPr lang="en-US" sz="1300" dirty="0"/>
          </a:p>
        </p:txBody>
      </p:sp>
      <p:sp>
        <p:nvSpPr>
          <p:cNvPr id="15" name="Shape 10"/>
          <p:cNvSpPr/>
          <p:nvPr/>
        </p:nvSpPr>
        <p:spPr>
          <a:xfrm>
            <a:off x="640080" y="4023360"/>
            <a:ext cx="7863840" cy="77724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822960" y="4133088"/>
            <a:ext cx="548640" cy="548640"/>
          </a:xfrm>
          <a:prstGeom prst="rect">
            <a:avLst/>
          </a:prstGeom>
        </p:spPr>
      </p:pic>
      <p:sp>
        <p:nvSpPr>
          <p:cNvPr id="17" name="Text 11"/>
          <p:cNvSpPr/>
          <p:nvPr/>
        </p:nvSpPr>
        <p:spPr>
          <a:xfrm>
            <a:off x="1554480" y="4069080"/>
            <a:ext cx="6766560" cy="32004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OCR is amazing but messy</a:t>
            </a:r>
            <a:endParaRPr lang="en-US" sz="1600" dirty="0"/>
          </a:p>
        </p:txBody>
      </p:sp>
      <p:sp>
        <p:nvSpPr>
          <p:cNvPr id="18" name="Text 12"/>
          <p:cNvSpPr/>
          <p:nvPr/>
        </p:nvSpPr>
        <p:spPr>
          <a:xfrm>
            <a:off x="1554480" y="4407408"/>
            <a:ext cx="6766560" cy="3200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Preprocessing is essential. Without image enhancement, accuracy drops dramatically on phone photos.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371600" y="1828800"/>
            <a:ext cx="4572000" cy="4572000"/>
          </a:xfrm>
          <a:prstGeom prst="ellipse">
            <a:avLst/>
          </a:prstGeom>
          <a:solidFill>
            <a:srgbClr val="028090">
              <a:alpha val="15000"/>
            </a:srgbClr>
          </a:solidFill>
          <a:ln/>
        </p:spPr>
      </p:sp>
      <p:sp>
        <p:nvSpPr>
          <p:cNvPr id="3" name="Shape 1"/>
          <p:cNvSpPr/>
          <p:nvPr/>
        </p:nvSpPr>
        <p:spPr>
          <a:xfrm>
            <a:off x="6400800" y="-1828800"/>
            <a:ext cx="4572000" cy="4572000"/>
          </a:xfrm>
          <a:prstGeom prst="ellipse">
            <a:avLst/>
          </a:prstGeom>
          <a:solidFill>
            <a:srgbClr val="00A896">
              <a:alpha val="15000"/>
            </a:srgbClr>
          </a:solidFill>
          <a:ln/>
        </p:spPr>
      </p:sp>
      <p:pic>
        <p:nvPicPr>
          <p:cNvPr id="4" name="Image 0" descr="preencoded.png">    </p:cNvPr>
          <p:cNvPicPr>
            <a:picLocks noChangeAspect="1"/>
          </p:cNvPicPr>
          <p:nvPr/>
        </p:nvPicPr>
        <p:blipFill>
          <a:blip r:embed="rId1"/>
          <a:stretch>
            <a:fillRect/>
          </a:stretch>
        </p:blipFill>
        <p:spPr>
          <a:xfrm>
            <a:off x="3886200" y="548640"/>
            <a:ext cx="1371600" cy="1371600"/>
          </a:xfrm>
          <a:prstGeom prst="rect">
            <a:avLst/>
          </a:prstGeom>
        </p:spPr>
      </p:pic>
      <p:sp>
        <p:nvSpPr>
          <p:cNvPr id="5" name="Text 2"/>
          <p:cNvSpPr/>
          <p:nvPr/>
        </p:nvSpPr>
        <p:spPr>
          <a:xfrm>
            <a:off x="457200" y="2011680"/>
            <a:ext cx="822960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Trebuchet MS" pitchFamily="34" charset="0"/>
                <a:ea typeface="Trebuchet MS" pitchFamily="34" charset="-122"/>
                <a:cs typeface="Trebuchet MS" pitchFamily="34" charset="-120"/>
              </a:rPr>
              <a:t>Questions?</a:t>
            </a:r>
            <a:endParaRPr lang="en-US" sz="4800" dirty="0"/>
          </a:p>
        </p:txBody>
      </p:sp>
      <p:sp>
        <p:nvSpPr>
          <p:cNvPr id="6" name="Text 3"/>
          <p:cNvSpPr/>
          <p:nvPr/>
        </p:nvSpPr>
        <p:spPr>
          <a:xfrm>
            <a:off x="914400" y="3108960"/>
            <a:ext cx="7315200" cy="457200"/>
          </a:xfrm>
          <a:prstGeom prst="rect">
            <a:avLst/>
          </a:prstGeom>
          <a:noFill/>
          <a:ln/>
        </p:spPr>
        <p:txBody>
          <a:bodyPr wrap="square" lIns="0" tIns="0" rIns="0" bIns="0" rtlCol="0" anchor="ctr"/>
          <a:lstStyle/>
          <a:p>
            <a:pPr algn="ctr" indent="0" marL="0">
              <a:buNone/>
            </a:pPr>
            <a:r>
              <a:rPr lang="en-US" sz="2000" dirty="0">
                <a:solidFill>
                  <a:srgbClr val="02C39A"/>
                </a:solidFill>
                <a:latin typeface="Calibri" pitchFamily="34" charset="0"/>
                <a:ea typeface="Calibri" pitchFamily="34" charset="-122"/>
                <a:cs typeface="Calibri" pitchFamily="34" charset="-120"/>
              </a:rPr>
              <a:t>Thanks for listening!</a:t>
            </a:r>
            <a:endParaRPr lang="en-US" sz="2000" dirty="0"/>
          </a:p>
        </p:txBody>
      </p:sp>
      <p:sp>
        <p:nvSpPr>
          <p:cNvPr id="7" name="Shape 4"/>
          <p:cNvSpPr/>
          <p:nvPr/>
        </p:nvSpPr>
        <p:spPr>
          <a:xfrm>
            <a:off x="2286000" y="3931920"/>
            <a:ext cx="4572000" cy="457200"/>
          </a:xfrm>
          <a:prstGeom prst="rect">
            <a:avLst/>
          </a:prstGeom>
          <a:solidFill>
            <a:srgbClr val="028090">
              <a:alpha val="20000"/>
            </a:srgbClr>
          </a:solidFill>
          <a:ln/>
        </p:spPr>
      </p:sp>
      <p:sp>
        <p:nvSpPr>
          <p:cNvPr id="8" name="Text 5"/>
          <p:cNvSpPr/>
          <p:nvPr/>
        </p:nvSpPr>
        <p:spPr>
          <a:xfrm>
            <a:off x="2286000" y="3931920"/>
            <a:ext cx="4572000" cy="457200"/>
          </a:xfrm>
          <a:prstGeom prst="rect">
            <a:avLst/>
          </a:prstGeom>
          <a:noFill/>
          <a:ln/>
        </p:spPr>
        <p:txBody>
          <a:bodyPr wrap="square" lIns="0" tIns="0" rIns="0" bIns="0" rtlCol="0" anchor="ctr"/>
          <a:lstStyle/>
          <a:p>
            <a:pPr algn="ctr" indent="0" marL="0">
              <a:buNone/>
            </a:pPr>
            <a:r>
              <a:rPr lang="en-US" sz="1300" dirty="0">
                <a:solidFill>
                  <a:srgbClr val="8896A5"/>
                </a:solidFill>
                <a:latin typeface="Calibri" pitchFamily="34" charset="0"/>
                <a:ea typeface="Calibri" pitchFamily="34" charset="-122"/>
                <a:cs typeface="Calibri" pitchFamily="34" charset="-120"/>
              </a:rPr>
              <a:t>kookkai  •  The Dog Log  •  github.com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Dog Log - Tech Talk</dc:title>
  <dc:subject>PptxGenJS Presentation</dc:subject>
  <dc:creator>kookkai</dc:creator>
  <cp:lastModifiedBy>kookkai</cp:lastModifiedBy>
  <cp:revision>1</cp:revision>
  <dcterms:created xsi:type="dcterms:W3CDTF">2026-02-06T02:21:52Z</dcterms:created>
  <dcterms:modified xsi:type="dcterms:W3CDTF">2026-02-06T02:21:52Z</dcterms:modified>
</cp:coreProperties>
</file>